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75" r:id="rId5"/>
    <p:sldId id="259" r:id="rId6"/>
    <p:sldId id="261" r:id="rId7"/>
    <p:sldId id="263" r:id="rId8"/>
    <p:sldId id="262" r:id="rId9"/>
    <p:sldId id="272" r:id="rId10"/>
    <p:sldId id="266" r:id="rId11"/>
    <p:sldId id="267" r:id="rId12"/>
    <p:sldId id="268" r:id="rId13"/>
    <p:sldId id="264" r:id="rId14"/>
    <p:sldId id="265"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0B29"/>
    <a:srgbClr val="2E10D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26"/>
    <p:restoredTop sz="77190"/>
  </p:normalViewPr>
  <p:slideViewPr>
    <p:cSldViewPr snapToGrid="0" snapToObjects="1">
      <p:cViewPr>
        <p:scale>
          <a:sx n="105" d="100"/>
          <a:sy n="105" d="100"/>
        </p:scale>
        <p:origin x="728" y="288"/>
      </p:cViewPr>
      <p:guideLst>
        <p:guide orient="horz" pos="2160"/>
        <p:guide pos="2880"/>
      </p:guideLst>
    </p:cSldViewPr>
  </p:slideViewPr>
  <p:notesTextViewPr>
    <p:cViewPr>
      <p:scale>
        <a:sx n="95" d="100"/>
        <a:sy n="9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661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defTabSz="914400" eaLnBrk="0" fontAlgn="base" hangingPunct="0">
              <a:spcBef>
                <a:spcPct val="0"/>
              </a:spcBef>
              <a:spcAft>
                <a:spcPts val="600"/>
              </a:spcAft>
            </a:pPr>
            <a:r>
              <a:rPr kumimoji="0" lang="en-US" altLang="en-US" sz="1200" b="0" i="0" u="none" strike="noStrike" cap="none" normalizeH="0" baseline="0" dirty="0">
                <a:ln>
                  <a:noFill/>
                </a:ln>
                <a:effectLst/>
              </a:rPr>
              <a:t>Let’s look at a classical problem in wireless transmission system frequency selective fading. </a:t>
            </a:r>
          </a:p>
          <a:p>
            <a:pPr defTabSz="914400" eaLnBrk="0" fontAlgn="base" hangingPunct="0">
              <a:spcBef>
                <a:spcPct val="0"/>
              </a:spcBef>
              <a:spcAft>
                <a:spcPts val="600"/>
              </a:spcAft>
            </a:pPr>
            <a:endParaRPr kumimoji="0" lang="en-US" altLang="en-US" sz="1200" b="0" i="0" u="none" strike="noStrike" cap="none" normalizeH="0" baseline="0" dirty="0">
              <a:ln>
                <a:noFill/>
              </a:ln>
              <a:effectLst/>
            </a:endParaRPr>
          </a:p>
          <a:p>
            <a:pPr defTabSz="914400" eaLnBrk="0" fontAlgn="base" hangingPunct="0">
              <a:spcBef>
                <a:spcPct val="0"/>
              </a:spcBef>
              <a:spcAft>
                <a:spcPts val="600"/>
              </a:spcAft>
            </a:pPr>
            <a:r>
              <a:rPr kumimoji="0" lang="en-US" altLang="en-US" sz="1200" b="0" i="0" u="none" strike="noStrike" cap="none" normalizeH="0" baseline="0" dirty="0">
                <a:ln>
                  <a:noFill/>
                </a:ln>
                <a:effectLst/>
              </a:rPr>
              <a:t>When the transmitter send the signal to receiver, base station to UE in cellular downlink transmission, objects in environment cause reflection and lead the signals to arrive at receiver by different paths</a:t>
            </a:r>
          </a:p>
          <a:p>
            <a:pPr defTabSz="914400" eaLnBrk="0" fontAlgn="base" hangingPunct="0">
              <a:spcBef>
                <a:spcPct val="0"/>
              </a:spcBef>
              <a:spcAft>
                <a:spcPts val="600"/>
              </a:spcAft>
            </a:pPr>
            <a:endParaRPr kumimoji="0" lang="en-US" altLang="en-US" sz="1200" b="0" i="0" u="none" strike="noStrike" cap="none" normalizeH="0" baseline="0" dirty="0">
              <a:ln>
                <a:noFill/>
              </a:ln>
              <a:effectLst/>
            </a:endParaRPr>
          </a:p>
          <a:p>
            <a:r>
              <a:rPr lang="en-US" i="0" dirty="0"/>
              <a:t>With OFDM, a wideband signal is split into many subcarriers, and multipath causes some of them to experience deep fading while others remain strong.</a:t>
            </a:r>
          </a:p>
          <a:p>
            <a:pPr marL="0" marR="0" lvl="0" indent="0" algn="l" defTabSz="914400" rtl="0" eaLnBrk="0" fontAlgn="base" latinLnBrk="0" hangingPunct="0">
              <a:lnSpc>
                <a:spcPct val="100000"/>
              </a:lnSpc>
              <a:spcBef>
                <a:spcPct val="0"/>
              </a:spcBef>
              <a:spcAft>
                <a:spcPts val="600"/>
              </a:spcAft>
              <a:buClrTx/>
              <a:buSzTx/>
              <a:buFontTx/>
              <a:buNone/>
              <a:tabLst/>
              <a:defRPr/>
            </a:pPr>
            <a:endParaRPr lang="en-US" altLang="en-US" sz="1200" dirty="0"/>
          </a:p>
          <a:p>
            <a:pPr defTabSz="914400" eaLnBrk="0" fontAlgn="base" hangingPunct="0">
              <a:spcBef>
                <a:spcPct val="0"/>
              </a:spcBef>
              <a:spcAft>
                <a:spcPts val="600"/>
              </a:spcAft>
            </a:pPr>
            <a:r>
              <a:rPr kumimoji="0" lang="en-US" altLang="en-US" sz="1200" b="0" i="0" u="none" strike="noStrike" cap="none" normalizeH="0" baseline="0" dirty="0">
                <a:ln>
                  <a:noFill/>
                </a:ln>
                <a:effectLst/>
              </a:rPr>
              <a:t>So how to solve this problem in cellular system?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Multiply by the inverse of channel response</a:t>
            </a:r>
          </a:p>
          <a:p>
            <a:endParaRPr lang="en-US" dirty="0"/>
          </a:p>
          <a:p>
            <a:r>
              <a:rPr lang="en-US" dirty="0"/>
              <a:t>So the channel becomes flat after equalization</a:t>
            </a:r>
          </a:p>
          <a:p>
            <a:endParaRPr lang="en-US" dirty="0"/>
          </a:p>
          <a:p>
            <a:r>
              <a:rPr lang="en-US" dirty="0"/>
              <a:t>However, lets look at the noise floor </a:t>
            </a:r>
          </a:p>
          <a:p>
            <a:endParaRPr lang="en-US" dirty="0"/>
          </a:p>
          <a:p>
            <a:r>
              <a:rPr lang="en-US" dirty="0"/>
              <a:t>The deep faded subcarriers noise will be </a:t>
            </a:r>
            <a:r>
              <a:rPr lang="en-US" sz="1200" b="0" i="0" kern="1200" dirty="0">
                <a:solidFill>
                  <a:schemeClr val="tx1"/>
                </a:solidFill>
                <a:effectLst/>
                <a:latin typeface="+mn-lt"/>
                <a:ea typeface="+mn-ea"/>
                <a:cs typeface="+mn-cs"/>
              </a:rPr>
              <a:t>significantly</a:t>
            </a:r>
            <a:r>
              <a:rPr lang="en-US" dirty="0"/>
              <a:t> amplified too</a:t>
            </a:r>
          </a:p>
          <a:p>
            <a:r>
              <a:rPr lang="en-US" dirty="0"/>
              <a:t> </a:t>
            </a:r>
          </a:p>
          <a:p>
            <a:r>
              <a:rPr lang="en-US" dirty="0"/>
              <a:t>so if we look at SNR across the channel,  it remain the same. SNR of the distorted ones still remains the same so in fact it will not improve the decoding performance like BLER brought by the deep fading</a:t>
            </a:r>
          </a:p>
          <a:p>
            <a:endParaRPr lang="en-US" dirty="0"/>
          </a:p>
          <a:p>
            <a:r>
              <a:rPr lang="en-US" dirty="0"/>
              <a:t>This brought our attention besides  receiver side equalization, Can we use channel information on the transmitter side to handle this issue?</a:t>
            </a:r>
          </a:p>
          <a:p>
            <a:endParaRPr lang="en-US" dirty="0"/>
          </a:p>
          <a:p>
            <a:r>
              <a:rPr lang="en-US" dirty="0"/>
              <a:t>there is a traditional method </a:t>
            </a:r>
            <a:r>
              <a:rPr lang="en-US" dirty="0" err="1"/>
              <a:t>waterfilling</a:t>
            </a:r>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A0674-BCE1-DAF7-68B4-9EE44F0AF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7BFD9-F93B-EF0D-22A3-3D319CD872F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D18F226-B5B1-E49F-4137-A1BDD659E733}"/>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Same channel from previous slide, after receiver equalization, we have the normalized noise bar here which is the </a:t>
            </a:r>
            <a:r>
              <a:rPr lang="en-US" dirty="0"/>
              <a:t>noise-to-channel-gain ratio</a:t>
            </a:r>
            <a:r>
              <a:rPr lang="en-US" altLang="zh-CN" dirty="0"/>
              <a:t> </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Based on the </a:t>
            </a:r>
            <a:r>
              <a:rPr lang="en-US" dirty="0"/>
              <a:t>noise-to-channel-gain ratio</a:t>
            </a:r>
            <a:r>
              <a:rPr lang="en-US" altLang="zh-CN" dirty="0"/>
              <a:t> </a:t>
            </a:r>
            <a:r>
              <a:rPr lang="en-US" sz="1200" dirty="0"/>
              <a:t>of each subcarrier from receiver side, power will be allocated more on the strong ones while starves the deep faded ones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i.e. the taller the red bar is, the less power will be given, in some case, the bad ones will even be abandoned.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Waterfilling's</a:t>
            </a:r>
            <a:r>
              <a:rPr lang="en-US" sz="1200" dirty="0"/>
              <a:t> assumption is to starve faded tones so it increases the likelihood that a codeword spanning all tones hits its decoding threshold</a:t>
            </a:r>
          </a:p>
          <a:p>
            <a:endParaRPr dirty="0"/>
          </a:p>
        </p:txBody>
      </p:sp>
      <p:sp>
        <p:nvSpPr>
          <p:cNvPr id="4" name="Slide Number Placeholder 3">
            <a:extLst>
              <a:ext uri="{FF2B5EF4-FFF2-40B4-BE49-F238E27FC236}">
                <a16:creationId xmlns:a16="http://schemas.microsoft.com/office/drawing/2014/main" id="{8C7D6AB0-7A41-6A93-97A4-63F1BA785220}"/>
              </a:ext>
            </a:extLst>
          </p:cNvPr>
          <p:cNvSpPr>
            <a:spLocks noGrp="1"/>
          </p:cNvSpPr>
          <p:nvPr>
            <p:ph type="sldNum" sz="quarter" idx="5"/>
          </p:nvPr>
        </p:nvSpPr>
        <p:spPr/>
      </p:sp>
    </p:spTree>
    <p:extLst>
      <p:ext uri="{BB962C8B-B14F-4D97-AF65-F5344CB8AC3E}">
        <p14:creationId xmlns:p14="http://schemas.microsoft.com/office/powerpoint/2010/main" val="1194441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2000" dirty="0"/>
              <a:t>But lets look at it in another form, since cellular system operates under snr so lets look at </a:t>
            </a:r>
            <a:r>
              <a:rPr lang="en-US" sz="2000" dirty="0" err="1"/>
              <a:t>waterfilling</a:t>
            </a:r>
            <a:r>
              <a:rPr lang="en-US" sz="2000" dirty="0"/>
              <a:t> by using SNR as the y axis.</a:t>
            </a:r>
          </a:p>
          <a:p>
            <a:endParaRPr lang="en-US" sz="2000" dirty="0"/>
          </a:p>
          <a:p>
            <a:r>
              <a:rPr lang="en-US" sz="2000" dirty="0"/>
              <a:t>as </a:t>
            </a:r>
            <a:r>
              <a:rPr lang="en-US" sz="2000" dirty="0" err="1"/>
              <a:t>i</a:t>
            </a:r>
            <a:r>
              <a:rPr lang="en-US" sz="2000" dirty="0"/>
              <a:t> mentioned, The higher the subcarrier snr is, the more power will be given to it. And the worst subcarrier will be given just a little bit power or completely abandoned </a:t>
            </a:r>
          </a:p>
          <a:p>
            <a:endParaRPr lang="en-US" sz="2000" dirty="0"/>
          </a:p>
          <a:p>
            <a:r>
              <a:rPr lang="en-US" sz="2000" i="0" dirty="0"/>
              <a:t>This makes sense in cellular only if </a:t>
            </a:r>
            <a:r>
              <a:rPr lang="en-US" sz="2000" dirty="0"/>
              <a:t>each subcarrier can be independently rate-adapted, like </a:t>
            </a:r>
            <a:r>
              <a:rPr lang="en-US" sz="2000" i="0" dirty="0"/>
              <a:t>strong subcarriers can transmit at a higher rate and weak ones at a lower rate.</a:t>
            </a:r>
            <a:br>
              <a:rPr lang="en-US" sz="2000" i="0" dirty="0"/>
            </a:br>
            <a:endParaRPr lang="en-US" sz="2000" dirty="0"/>
          </a:p>
          <a:p>
            <a:pPr marL="0" indent="0">
              <a:buNone/>
            </a:pPr>
            <a:r>
              <a:rPr lang="en-US" sz="2000" dirty="0"/>
              <a:t>Water filling need a big assumption: per-subcarrier MCS</a:t>
            </a:r>
          </a:p>
          <a:p>
            <a:pPr marL="0" indent="0">
              <a:buNone/>
            </a:pPr>
            <a:endParaRPr lang="en-US" sz="2000" dirty="0"/>
          </a:p>
          <a:p>
            <a:pPr marL="0" indent="0">
              <a:buNone/>
            </a:pPr>
            <a:r>
              <a:rPr lang="en-US" sz="2000" dirty="0"/>
              <a:t>But. </a:t>
            </a:r>
            <a:r>
              <a:rPr lang="en-US" sz="2000" dirty="0" err="1"/>
              <a:t>Whats</a:t>
            </a:r>
            <a:r>
              <a:rPr lang="en-US" sz="2000" dirty="0"/>
              <a:t> </a:t>
            </a:r>
            <a:r>
              <a:rPr lang="en-US" sz="2000" dirty="0" err="1"/>
              <a:t>happeneing</a:t>
            </a:r>
            <a:r>
              <a:rPr lang="en-US" sz="2000" dirty="0"/>
              <a:t> </a:t>
            </a:r>
            <a:r>
              <a:rPr lang="en-US" sz="2000" dirty="0" err="1"/>
              <a:t>inLTE</a:t>
            </a:r>
            <a:r>
              <a:rPr lang="en-US" sz="2000" dirty="0"/>
              <a:t>/5G is that it uses one MCS across whole channel</a:t>
            </a:r>
          </a:p>
          <a:p>
            <a:pPr marL="0" indent="0">
              <a:buNone/>
            </a:pPr>
            <a:endParaRPr lang="en-US" sz="2000" dirty="0"/>
          </a:p>
          <a:p>
            <a:pPr marL="0" indent="0">
              <a:buNone/>
            </a:pPr>
            <a:r>
              <a:rPr lang="en-US" sz="2000" dirty="0"/>
              <a:t>Starving weak sub-bands hurt block decoding, as you can see here, the faded one can not handler this single </a:t>
            </a:r>
            <a:r>
              <a:rPr lang="en-US" sz="2000" dirty="0" err="1"/>
              <a:t>mcs</a:t>
            </a:r>
            <a:r>
              <a:rPr lang="en-US" sz="2000" dirty="0"/>
              <a:t> safely under water-filling since no power will be given to it</a:t>
            </a:r>
          </a:p>
          <a:p>
            <a:pPr marL="0" indent="0">
              <a:buNone/>
            </a:pPr>
            <a:endParaRPr lang="en-US" sz="2000" dirty="0"/>
          </a:p>
          <a:p>
            <a:pPr marL="0" indent="0">
              <a:buNone/>
            </a:pPr>
            <a:r>
              <a:rPr lang="en-US" sz="2000" dirty="0"/>
              <a:t>So we propose a brand new transmitter side equalization strategy: SAPE</a:t>
            </a:r>
          </a:p>
          <a:p>
            <a:endParaRPr lang="en-US" sz="2000"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Instead of starving the weak faded ones, we decided to feed more power to the weak ones, and SAPE will flat the snr across subcarriers on the receiver side</a:t>
            </a:r>
          </a:p>
          <a:p>
            <a:endParaRPr lang="en-US" dirty="0"/>
          </a:p>
          <a:p>
            <a:endParaRPr lang="en-US" dirty="0"/>
          </a:p>
          <a:p>
            <a:r>
              <a:rPr lang="en-US" dirty="0"/>
              <a:t>So that when the single </a:t>
            </a:r>
            <a:r>
              <a:rPr lang="en-US" dirty="0" err="1"/>
              <a:t>mcs</a:t>
            </a:r>
            <a:r>
              <a:rPr lang="en-US" dirty="0"/>
              <a:t> being applied, the weak ones could still perform well and safely  without hurting the decoding</a:t>
            </a:r>
          </a:p>
          <a:p>
            <a:endParaRPr lang="en-US" dirty="0"/>
          </a:p>
          <a:p>
            <a:r>
              <a:rPr lang="en-US" dirty="0"/>
              <a:t>Even in some cases, a higher and more aggressive MCS could be used. Our experiment results later also prove this.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To Design SAPE, there will be couple challenges for us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dirty="0"/>
              <a:t>First, we have a strict </a:t>
            </a:r>
            <a:r>
              <a:rPr lang="en-US" b="1" dirty="0"/>
              <a:t>no-UE-modification, fully protocol-compliance requirement</a:t>
            </a:r>
            <a:r>
              <a:rPr lang="en-US" dirty="0"/>
              <a:t>. Transmitter-side power equalization requires channel knowledge, but per-subcarrier amplitude feedback would require changes to the UE and is not supported in LTE or 5G. Therefore, we restrict ourselves to existing 3GPP mechanisms and use </a:t>
            </a:r>
            <a:r>
              <a:rPr lang="en-US" b="1" dirty="0"/>
              <a:t>standard </a:t>
            </a:r>
            <a:r>
              <a:rPr lang="en-US" b="1" dirty="0" err="1"/>
              <a:t>subband</a:t>
            </a:r>
            <a:r>
              <a:rPr lang="en-US" b="1" dirty="0"/>
              <a:t> CQI</a:t>
            </a:r>
            <a:r>
              <a:rPr lang="en-US" dirty="0"/>
              <a:t> to reconstruct frequency selectivity at the transmitter.</a:t>
            </a:r>
          </a:p>
          <a:p>
            <a:endParaRPr lang="en-US" sz="1200" dirty="0"/>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For implementation, we need to verify this idea on a real-world practical radio platform that can support all the features needed like the </a:t>
            </a:r>
            <a:r>
              <a:rPr lang="en-US" sz="1200" dirty="0" err="1"/>
              <a:t>subband</a:t>
            </a:r>
            <a:r>
              <a:rPr lang="en-US" sz="1200" dirty="0"/>
              <a:t> </a:t>
            </a:r>
            <a:r>
              <a:rPr lang="en-US" sz="1200" dirty="0" err="1"/>
              <a:t>cqi</a:t>
            </a:r>
            <a:r>
              <a:rPr lang="en-US" sz="1200" dirty="0"/>
              <a:t> reporting.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dirty="0" err="1"/>
              <a:t>subband</a:t>
            </a:r>
            <a:r>
              <a:rPr lang="en-US" dirty="0"/>
              <a:t> CQI is optional in 3GPP and largely unsupported in real platforms. After trying multiple systems, we found that </a:t>
            </a:r>
            <a:r>
              <a:rPr lang="en-US" dirty="0" err="1"/>
              <a:t>srsLTE</a:t>
            </a:r>
            <a:r>
              <a:rPr lang="en-US" dirty="0"/>
              <a:t> provides only partial support, so we had to complete the entire feedback loop ourselves.</a:t>
            </a:r>
            <a:r>
              <a:rPr lang="zh-CN" altLang="en-US" dirty="0"/>
              <a:t> </a:t>
            </a:r>
            <a:r>
              <a:rPr lang="en-US" altLang="zh-CN" dirty="0"/>
              <a:t>And I will talk about that later.</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is what the final system diagram looks like. </a:t>
            </a:r>
            <a:r>
              <a:rPr lang="en-US" sz="1200" dirty="0" err="1"/>
              <a:t>Suabbnd</a:t>
            </a:r>
            <a:r>
              <a:rPr lang="en-US" sz="1200" dirty="0"/>
              <a:t> CQI will be calculate based on the reference signal CRS for channel estimation (in 5g, its called </a:t>
            </a:r>
            <a:r>
              <a:rPr lang="en-US" sz="1200" dirty="0" err="1"/>
              <a:t>csi-rs</a:t>
            </a:r>
            <a:r>
              <a:rPr lang="en-US" sz="1200" dirty="0"/>
              <a:t>), then we apply SAPE before OFDM, after precoding, and SAPE will be applied to both </a:t>
            </a:r>
            <a:r>
              <a:rPr lang="en-US" sz="1200" dirty="0" err="1"/>
              <a:t>pdsch</a:t>
            </a:r>
            <a:r>
              <a:rPr lang="en-US" sz="1200" dirty="0"/>
              <a:t> data symbols and reference signal symbols.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dirty="0"/>
              <a:t>I will quickly go over what the algorithm looks like on high </a:t>
            </a:r>
            <a:r>
              <a:rPr lang="en-US" sz="1200" dirty="0" err="1"/>
              <a:t>mathmatic</a:t>
            </a:r>
            <a:r>
              <a:rPr lang="en-US" sz="1200" dirty="0"/>
              <a:t> level</a:t>
            </a:r>
          </a:p>
          <a:p>
            <a:endParaRPr lang="en-US" sz="1200" dirty="0"/>
          </a:p>
          <a:p>
            <a:r>
              <a:rPr lang="en-US" sz="1200" dirty="0"/>
              <a:t>First we need to map the </a:t>
            </a:r>
            <a:r>
              <a:rPr lang="en-US" sz="1200" dirty="0" err="1"/>
              <a:t>cqi</a:t>
            </a:r>
            <a:r>
              <a:rPr lang="en-US" sz="1200" dirty="0"/>
              <a:t> back to snr, thanks to some previous work, there have been some tables proposed to achieve this, and we used their table for mapping this value.</a:t>
            </a:r>
          </a:p>
          <a:p>
            <a:endParaRPr lang="en-US" sz="1200" dirty="0"/>
          </a:p>
          <a:p>
            <a:r>
              <a:rPr lang="en-US" sz="1200" dirty="0"/>
              <a:t> after mapping, we got </a:t>
            </a:r>
            <a:r>
              <a:rPr lang="en-US" sz="1200" dirty="0" err="1"/>
              <a:t>subband</a:t>
            </a:r>
            <a:r>
              <a:rPr lang="en-US" sz="1200" dirty="0"/>
              <a:t> SNR, however its in </a:t>
            </a:r>
            <a:r>
              <a:rPr lang="en-US" sz="1200" dirty="0" err="1"/>
              <a:t>db</a:t>
            </a:r>
            <a:r>
              <a:rPr lang="en-US" sz="1200" dirty="0"/>
              <a:t> form so we need to convert it to linear form. Then we have factor g as the power allocation factor</a:t>
            </a:r>
          </a:p>
          <a:p>
            <a:endParaRPr lang="en-US" sz="1200" dirty="0"/>
          </a:p>
          <a:p>
            <a:r>
              <a:rPr lang="en-US" sz="1200" dirty="0"/>
              <a:t>Once we applied g on the symbols, the total power will be changed so we have the power normalize factor alpha</a:t>
            </a:r>
          </a:p>
          <a:p>
            <a:endParaRPr lang="en-US" sz="1200" dirty="0"/>
          </a:p>
          <a:p>
            <a:r>
              <a:rPr lang="en-US" sz="1200" dirty="0"/>
              <a:t>Eventually after alpha and g, we got the new equalized symbols on the transmitter side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2E9FC-26D6-B81E-A567-962477511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0D39B-2567-8A14-7B48-64D89583FE1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49F77E9-6E0E-4382-D9F9-7DAAA31CF71D}"/>
              </a:ext>
            </a:extLst>
          </p:cNvPr>
          <p:cNvSpPr>
            <a:spLocks noGrp="1"/>
          </p:cNvSpPr>
          <p:nvPr>
            <p:ph type="body" sz="quarter" idx="3"/>
          </p:nvPr>
        </p:nvSpPr>
        <p:spPr/>
        <p:txBody>
          <a:bodyPr/>
          <a:lstStyle/>
          <a:p>
            <a:r>
              <a:rPr lang="en-US" dirty="0"/>
              <a:t>I will quickly go over how we modify the codebase in </a:t>
            </a:r>
            <a:r>
              <a:rPr lang="en-US" dirty="0" err="1"/>
              <a:t>srslte</a:t>
            </a:r>
            <a:r>
              <a:rPr lang="en-US" dirty="0"/>
              <a:t> to implement SAPE</a:t>
            </a:r>
          </a:p>
          <a:p>
            <a:endParaRPr lang="en-US" dirty="0"/>
          </a:p>
          <a:p>
            <a:r>
              <a:rPr lang="en-US" dirty="0"/>
              <a:t>In </a:t>
            </a:r>
            <a:r>
              <a:rPr lang="en-US" dirty="0" err="1"/>
              <a:t>srsLTE</a:t>
            </a:r>
            <a:r>
              <a:rPr lang="en-US" dirty="0"/>
              <a:t>, </a:t>
            </a:r>
            <a:r>
              <a:rPr lang="en-US" dirty="0" err="1"/>
              <a:t>subband</a:t>
            </a:r>
            <a:r>
              <a:rPr lang="en-US" dirty="0"/>
              <a:t> CQI is </a:t>
            </a:r>
            <a:r>
              <a:rPr lang="en-US" b="1" dirty="0"/>
              <a:t>partial</a:t>
            </a:r>
            <a:r>
              <a:rPr lang="en-US" dirty="0"/>
              <a:t>.</a:t>
            </a:r>
          </a:p>
          <a:p>
            <a:endParaRPr lang="en-US" dirty="0"/>
          </a:p>
          <a:p>
            <a:r>
              <a:rPr lang="en-US" i="0" dirty="0" err="1"/>
              <a:t>Subband</a:t>
            </a:r>
            <a:r>
              <a:rPr lang="en-US" i="0" dirty="0"/>
              <a:t> CQI is partially supported in </a:t>
            </a:r>
            <a:r>
              <a:rPr lang="en-US" i="0" dirty="0" err="1"/>
              <a:t>srsLTE</a:t>
            </a:r>
            <a:r>
              <a:rPr lang="en-US" i="0" dirty="0"/>
              <a:t>: the feedback path exists, but </a:t>
            </a:r>
            <a:r>
              <a:rPr lang="en-US" i="0" dirty="0" err="1"/>
              <a:t>subband</a:t>
            </a:r>
            <a:r>
              <a:rPr lang="en-US" i="0" dirty="0"/>
              <a:t> values reuse wideband CQI.</a:t>
            </a:r>
          </a:p>
          <a:p>
            <a:endParaRPr lang="en-US" sz="1200" dirty="0"/>
          </a:p>
          <a:p>
            <a:r>
              <a:rPr lang="en-US" sz="1200" dirty="0"/>
              <a:t>To fully implement this, first we need to modify downlink channel estimation on UE to sub-band level and get </a:t>
            </a:r>
            <a:r>
              <a:rPr lang="en-US" sz="1200" dirty="0" err="1"/>
              <a:t>subband</a:t>
            </a:r>
            <a:r>
              <a:rPr lang="en-US" sz="1200" dirty="0"/>
              <a:t> CQI,</a:t>
            </a:r>
          </a:p>
          <a:p>
            <a:endParaRPr lang="en-US" sz="1200" dirty="0"/>
          </a:p>
          <a:p>
            <a:r>
              <a:rPr lang="en-US" sz="1200" dirty="0"/>
              <a:t>then pack the bits for </a:t>
            </a:r>
            <a:r>
              <a:rPr lang="en-US" dirty="0"/>
              <a:t>Physical Uplink Control Channel</a:t>
            </a:r>
            <a:r>
              <a:rPr lang="en-US" sz="1200" b="0" i="0" kern="1200" dirty="0">
                <a:solidFill>
                  <a:schemeClr val="tx1"/>
                </a:solidFill>
                <a:effectLst/>
                <a:latin typeface="+mn-lt"/>
                <a:ea typeface="+mn-ea"/>
                <a:cs typeface="+mn-cs"/>
              </a:rPr>
              <a:t> (PUCCH), and pass it to transmitter,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base station unpack the bits then pass CQI values to PHY layer through different MAC schedulers to be used for SAPE which happens at PDSCH encoding</a:t>
            </a:r>
            <a:endParaRPr dirty="0"/>
          </a:p>
        </p:txBody>
      </p:sp>
      <p:sp>
        <p:nvSpPr>
          <p:cNvPr id="4" name="Slide Number Placeholder 3">
            <a:extLst>
              <a:ext uri="{FF2B5EF4-FFF2-40B4-BE49-F238E27FC236}">
                <a16:creationId xmlns:a16="http://schemas.microsoft.com/office/drawing/2014/main" id="{E6EF7CBB-A2FE-645F-73B3-2322F012BB65}"/>
              </a:ext>
            </a:extLst>
          </p:cNvPr>
          <p:cNvSpPr>
            <a:spLocks noGrp="1"/>
          </p:cNvSpPr>
          <p:nvPr>
            <p:ph type="sldNum" sz="quarter" idx="5"/>
          </p:nvPr>
        </p:nvSpPr>
        <p:spPr/>
      </p:sp>
    </p:spTree>
    <p:extLst>
      <p:ext uri="{BB962C8B-B14F-4D97-AF65-F5344CB8AC3E}">
        <p14:creationId xmlns:p14="http://schemas.microsoft.com/office/powerpoint/2010/main" val="1294485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what our setup looks like, we have NLOS which is for heavy multipath and LOS which is for no multipath to validate SAPE</a:t>
            </a:r>
          </a:p>
          <a:p>
            <a:endParaRPr lang="en-US" dirty="0"/>
          </a:p>
          <a:p>
            <a:r>
              <a:rPr lang="en-US" dirty="0"/>
              <a:t>Each trial transmits downlink UDP traffic using </a:t>
            </a:r>
            <a:r>
              <a:rPr lang="en-US" dirty="0" err="1"/>
              <a:t>iperf</a:t>
            </a:r>
            <a:r>
              <a:rPr lang="en-US" dirty="0"/>
              <a:t> with a single, fixed MCS. We compare a baseline with receiver-side equalization only against our </a:t>
            </a:r>
            <a:r>
              <a:rPr lang="en-US" dirty="0" err="1"/>
              <a:t>subband</a:t>
            </a:r>
            <a:r>
              <a:rPr lang="en-US" dirty="0"/>
              <a:t> Power-Equalization</a:t>
            </a:r>
            <a:endParaRPr lang="en-US" sz="1200" dirty="0"/>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Another thing I need to mention, </a:t>
            </a:r>
            <a:r>
              <a:rPr lang="en-US" dirty="0"/>
              <a:t>In </a:t>
            </a:r>
            <a:r>
              <a:rPr lang="en-US" dirty="0" err="1"/>
              <a:t>srsRAN</a:t>
            </a:r>
            <a:r>
              <a:rPr lang="en-US" dirty="0"/>
              <a:t>, only a fixed-length implementation of reporting is supported for uplink control message feedback so we can only implement 4 </a:t>
            </a:r>
            <a:r>
              <a:rPr lang="en-US" dirty="0" err="1"/>
              <a:t>subbands</a:t>
            </a:r>
            <a:endParaRPr lang="en-US" sz="1200" dirty="0"/>
          </a:p>
          <a:p>
            <a:endParaRPr lang="en-US" sz="1200" dirty="0"/>
          </a:p>
          <a:p>
            <a:endParaRPr lang="en-US" sz="1200" dirty="0"/>
          </a:p>
          <a:p>
            <a:endParaRPr lang="en-US" sz="1200"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Worst 5–10% channel realizations benefit the most</a:t>
            </a:r>
          </a:p>
          <a:p>
            <a:endParaRPr lang="en-US" dirty="0"/>
          </a:p>
          <a:p>
            <a:endParaRPr lang="en-US" dirty="0"/>
          </a:p>
          <a:p>
            <a:r>
              <a:rPr lang="en-US" dirty="0"/>
              <a:t>For MCS 15, SAPE can achieve lower BLER at high percentiles as you can see</a:t>
            </a:r>
          </a:p>
          <a:p>
            <a:endParaRPr lang="en-US" dirty="0"/>
          </a:p>
          <a:p>
            <a:r>
              <a:rPr lang="en-US" dirty="0"/>
              <a:t>And improves the median throughput significantly and reduces the spread of low throughput samples.  </a:t>
            </a:r>
          </a:p>
          <a:p>
            <a:endParaRPr lang="en-US" dirty="0"/>
          </a:p>
          <a:p>
            <a:r>
              <a:rPr lang="en-US" dirty="0"/>
              <a:t>showing that </a:t>
            </a:r>
            <a:r>
              <a:rPr lang="en-US" dirty="0" err="1"/>
              <a:t>subband</a:t>
            </a:r>
            <a:r>
              <a:rPr lang="en-US" dirty="0"/>
              <a:t> gain adaptation offers the most benefit when the MCS is more aggressive. </a:t>
            </a:r>
          </a:p>
          <a:p>
            <a:endParaRPr lang="en-US" dirty="0"/>
          </a:p>
          <a:p>
            <a:r>
              <a:rPr lang="en-US" dirty="0"/>
              <a:t> Original setup may choose a conservative MCS 13/11 for this situation while with SAPE, MCS 15 would be chosen safely instead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SAPE does not hurt the performance</a:t>
            </a:r>
          </a:p>
          <a:p>
            <a:endParaRPr dirty="0"/>
          </a:p>
          <a:p>
            <a:r>
              <a:rPr dirty="0"/>
              <a:t>Say: SAPE helps when needed, disappears otherwise.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dirty="0"/>
              <a:t>As I previously mentioned, SAPE on </a:t>
            </a:r>
            <a:r>
              <a:rPr lang="en-US" sz="1200" dirty="0" err="1"/>
              <a:t>srslte</a:t>
            </a:r>
            <a:r>
              <a:rPr lang="en-US" sz="1200" dirty="0"/>
              <a:t> has some limitation, only 4 </a:t>
            </a:r>
            <a:r>
              <a:rPr lang="en-US" sz="1200" dirty="0" err="1"/>
              <a:t>subbands</a:t>
            </a:r>
            <a:r>
              <a:rPr lang="en-US" sz="1200" dirty="0"/>
              <a:t> supported and its on </a:t>
            </a:r>
            <a:r>
              <a:rPr lang="en-US" sz="1200" dirty="0" err="1"/>
              <a:t>lte</a:t>
            </a:r>
            <a:r>
              <a:rPr lang="en-US" sz="1200" dirty="0"/>
              <a:t> not 5g</a:t>
            </a:r>
          </a:p>
          <a:p>
            <a:endParaRPr lang="en-US" sz="1200" dirty="0"/>
          </a:p>
          <a:p>
            <a:r>
              <a:rPr lang="en-US" sz="1200" dirty="0"/>
              <a:t>So we added an implementation on </a:t>
            </a:r>
            <a:r>
              <a:rPr lang="en-US" sz="1200" dirty="0" err="1"/>
              <a:t>matlab</a:t>
            </a:r>
            <a:r>
              <a:rPr lang="en-US" sz="1200" dirty="0"/>
              <a:t> to extend the </a:t>
            </a:r>
            <a:r>
              <a:rPr lang="en-US" sz="1200" dirty="0" err="1"/>
              <a:t>subband</a:t>
            </a:r>
            <a:r>
              <a:rPr lang="en-US" sz="1200" dirty="0"/>
              <a:t> size to 13 and to 5g </a:t>
            </a:r>
          </a:p>
          <a:p>
            <a:endParaRPr lang="en-US" sz="1200" dirty="0"/>
          </a:p>
          <a:p>
            <a:r>
              <a:rPr lang="en-US" sz="1200" dirty="0" err="1"/>
              <a:t>argos</a:t>
            </a:r>
            <a:r>
              <a:rPr lang="en-US" sz="1200" dirty="0"/>
              <a:t> can simulate </a:t>
            </a:r>
            <a:r>
              <a:rPr lang="en-US" sz="1200" dirty="0" err="1"/>
              <a:t>mulitipath</a:t>
            </a:r>
            <a:endParaRPr lang="en-US" sz="1200"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SAPE performs well at high </a:t>
            </a:r>
            <a:r>
              <a:rPr lang="en-US" dirty="0" err="1"/>
              <a:t>mcs</a:t>
            </a:r>
            <a:r>
              <a:rPr lang="en-US" dirty="0"/>
              <a:t> again, which is </a:t>
            </a:r>
            <a:r>
              <a:rPr lang="en-US" dirty="0" err="1"/>
              <a:t>mcs</a:t>
            </a:r>
            <a:r>
              <a:rPr lang="en-US" dirty="0"/>
              <a:t> 9 here. </a:t>
            </a:r>
          </a:p>
          <a:p>
            <a:endParaRPr lang="en-US" dirty="0"/>
          </a:p>
          <a:p>
            <a:r>
              <a:rPr lang="en-US" dirty="0"/>
              <a:t>This purple line represents SAPE and it is shifting to the left. SAPE can achieve max throughput of current MCS with lower SNR required compared to default 5g setup and </a:t>
            </a:r>
            <a:r>
              <a:rPr lang="en-US" dirty="0" err="1"/>
              <a:t>waterfilling</a:t>
            </a:r>
            <a:endParaRPr lang="en-US" dirty="0"/>
          </a:p>
          <a:p>
            <a:endParaRPr lang="en-US" dirty="0"/>
          </a:p>
          <a:p>
            <a:r>
              <a:rPr lang="en-US" dirty="0"/>
              <a:t>so it aligns with our results from </a:t>
            </a:r>
            <a:r>
              <a:rPr lang="en-US" dirty="0" err="1"/>
              <a:t>srslte</a:t>
            </a:r>
            <a:r>
              <a:rPr lang="en-US" dirty="0"/>
              <a:t> that SAPE can help the system perform better on more aggressive higher MCS when there is heavy multipath</a:t>
            </a:r>
          </a:p>
          <a:p>
            <a:endParaRPr lang="en-US" dirty="0"/>
          </a:p>
          <a:p>
            <a:r>
              <a:rPr lang="en-US" dirty="0"/>
              <a:t>also from both results here, we can also clearly see water-filling hurts the performance, its shifting to the right which means require higher snr to achieve maximum throughput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0" dirty="0"/>
              <a:t>To conclude, SAPE is a no-regret, protocol-compliant PHY enhancement that works in real systems today and scales naturally to 5G.</a:t>
            </a:r>
          </a:p>
          <a:p>
            <a:endParaRPr lang="en-US" dirty="0"/>
          </a:p>
          <a:p>
            <a:r>
              <a:rPr lang="en-US" dirty="0"/>
              <a:t>In order to fully implement it, we should also have a new MCS selection strategy like a new mapping table </a:t>
            </a:r>
            <a:r>
              <a:rPr lang="en-US" dirty="0" err="1"/>
              <a:t>bc</a:t>
            </a:r>
            <a:r>
              <a:rPr lang="en-US" dirty="0"/>
              <a:t> SAPE allow the system to use higher MCS than before</a:t>
            </a:r>
          </a:p>
          <a:p>
            <a:endParaRPr lang="en-US" dirty="0"/>
          </a:p>
          <a:p>
            <a:r>
              <a:rPr lang="en-US" dirty="0"/>
              <a:t>Thanks I am happy to take any questions</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12" name="Google Shape;10;p4">
            <a:extLst>
              <a:ext uri="{FF2B5EF4-FFF2-40B4-BE49-F238E27FC236}">
                <a16:creationId xmlns:a16="http://schemas.microsoft.com/office/drawing/2014/main" id="{63484005-7F76-B684-C050-8D55448C3051}"/>
              </a:ext>
            </a:extLst>
          </p:cNvPr>
          <p:cNvSpPr/>
          <p:nvPr userDrawn="1"/>
        </p:nvSpPr>
        <p:spPr>
          <a:xfrm>
            <a:off x="0" y="6435578"/>
            <a:ext cx="9144000" cy="422421"/>
          </a:xfrm>
          <a:prstGeom prst="rect">
            <a:avLst/>
          </a:prstGeom>
          <a:solidFill>
            <a:srgbClr val="0D0B2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3" name="Picture 12">
            <a:extLst>
              <a:ext uri="{FF2B5EF4-FFF2-40B4-BE49-F238E27FC236}">
                <a16:creationId xmlns:a16="http://schemas.microsoft.com/office/drawing/2014/main" id="{C2485ECA-D1E3-F8DA-118E-A9F8AB6BE44A}"/>
              </a:ext>
            </a:extLst>
          </p:cNvPr>
          <p:cNvPicPr>
            <a:picLocks noChangeAspect="1"/>
          </p:cNvPicPr>
          <p:nvPr userDrawn="1"/>
        </p:nvPicPr>
        <p:blipFill>
          <a:blip r:embed="rId13"/>
          <a:stretch>
            <a:fillRect/>
          </a:stretch>
        </p:blipFill>
        <p:spPr>
          <a:xfrm>
            <a:off x="0" y="6435579"/>
            <a:ext cx="1219200" cy="415431"/>
          </a:xfrm>
          <a:prstGeom prst="rect">
            <a:avLst/>
          </a:prstGeom>
        </p:spPr>
      </p:pic>
      <p:pic>
        <p:nvPicPr>
          <p:cNvPr id="14" name="Picture 13" descr="A red square with white letters&#10;&#10;AI-generated content may be incorrect.">
            <a:extLst>
              <a:ext uri="{FF2B5EF4-FFF2-40B4-BE49-F238E27FC236}">
                <a16:creationId xmlns:a16="http://schemas.microsoft.com/office/drawing/2014/main" id="{5DA85609-C021-357B-6C98-839058F53716}"/>
              </a:ext>
            </a:extLst>
          </p:cNvPr>
          <p:cNvPicPr>
            <a:picLocks noChangeAspect="1"/>
          </p:cNvPicPr>
          <p:nvPr userDrawn="1"/>
        </p:nvPicPr>
        <p:blipFill>
          <a:blip r:embed="rId14"/>
          <a:stretch>
            <a:fillRect/>
          </a:stretch>
        </p:blipFill>
        <p:spPr>
          <a:xfrm>
            <a:off x="8416412" y="6432362"/>
            <a:ext cx="727587" cy="425638"/>
          </a:xfrm>
          <a:prstGeom prst="rect">
            <a:avLst/>
          </a:prstGeom>
        </p:spPr>
      </p:pic>
      <p:sp>
        <p:nvSpPr>
          <p:cNvPr id="16" name="TextBox 15">
            <a:extLst>
              <a:ext uri="{FF2B5EF4-FFF2-40B4-BE49-F238E27FC236}">
                <a16:creationId xmlns:a16="http://schemas.microsoft.com/office/drawing/2014/main" id="{828E953D-6492-132E-4484-45B462679E22}"/>
              </a:ext>
            </a:extLst>
          </p:cNvPr>
          <p:cNvSpPr txBox="1"/>
          <p:nvPr userDrawn="1"/>
        </p:nvSpPr>
        <p:spPr>
          <a:xfrm>
            <a:off x="3829664" y="6479882"/>
            <a:ext cx="1484672" cy="369332"/>
          </a:xfrm>
          <a:prstGeom prst="rect">
            <a:avLst/>
          </a:prstGeom>
          <a:noFill/>
        </p:spPr>
        <p:txBody>
          <a:bodyPr wrap="square" rtlCol="0">
            <a:spAutoFit/>
          </a:bodyPr>
          <a:lstStyle/>
          <a:p>
            <a:r>
              <a:rPr lang="en-US" dirty="0">
                <a:solidFill>
                  <a:schemeClr val="bg1"/>
                </a:solidFill>
              </a:rPr>
              <a:t>Dingyu Zhang</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dyzhang1/SAPE"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38387" y="1143000"/>
            <a:ext cx="3634740" cy="2898648"/>
          </a:xfrm>
        </p:spPr>
        <p:txBody>
          <a:bodyPr>
            <a:normAutofit/>
          </a:bodyPr>
          <a:lstStyle/>
          <a:p>
            <a:pPr algn="l">
              <a:lnSpc>
                <a:spcPct val="90000"/>
              </a:lnSpc>
            </a:pPr>
            <a:r>
              <a:rPr lang="en-US" sz="4000" dirty="0"/>
              <a:t>SAPE: Demystifying Sub-band Aware Power Equalization</a:t>
            </a:r>
          </a:p>
        </p:txBody>
      </p:sp>
      <p:sp>
        <p:nvSpPr>
          <p:cNvPr id="3" name="Subtitle 2"/>
          <p:cNvSpPr>
            <a:spLocks noGrp="1"/>
          </p:cNvSpPr>
          <p:nvPr>
            <p:ph type="subTitle" idx="1"/>
          </p:nvPr>
        </p:nvSpPr>
        <p:spPr>
          <a:xfrm>
            <a:off x="638387" y="4407408"/>
            <a:ext cx="3634740" cy="2264352"/>
          </a:xfrm>
        </p:spPr>
        <p:txBody>
          <a:bodyPr>
            <a:normAutofit/>
          </a:bodyPr>
          <a:lstStyle/>
          <a:p>
            <a:pPr algn="l">
              <a:lnSpc>
                <a:spcPct val="90000"/>
              </a:lnSpc>
            </a:pPr>
            <a:r>
              <a:rPr lang="en-US" sz="2400" b="1" dirty="0" err="1">
                <a:solidFill>
                  <a:schemeClr val="tx1"/>
                </a:solidFill>
              </a:rPr>
              <a:t>HotMobile</a:t>
            </a:r>
            <a:r>
              <a:rPr lang="en-US" sz="2400" b="1" dirty="0">
                <a:solidFill>
                  <a:schemeClr val="tx1"/>
                </a:solidFill>
              </a:rPr>
              <a:t> 2026</a:t>
            </a:r>
          </a:p>
          <a:p>
            <a:pPr algn="l">
              <a:lnSpc>
                <a:spcPct val="90000"/>
              </a:lnSpc>
            </a:pPr>
            <a:endParaRPr lang="en-US" sz="1900" dirty="0"/>
          </a:p>
          <a:p>
            <a:pPr algn="l">
              <a:lnSpc>
                <a:spcPct val="90000"/>
              </a:lnSpc>
            </a:pPr>
            <a:r>
              <a:rPr lang="en-US" sz="1900" b="1" dirty="0">
                <a:solidFill>
                  <a:srgbClr val="002060"/>
                </a:solidFill>
              </a:rPr>
              <a:t>Dingyu Zhang (JHU)</a:t>
            </a:r>
            <a:r>
              <a:rPr lang="en-US" altLang="zh-CN" sz="1900" b="1" dirty="0">
                <a:solidFill>
                  <a:srgbClr val="002060"/>
                </a:solidFill>
              </a:rPr>
              <a:t>*</a:t>
            </a:r>
            <a:endParaRPr lang="en-US" sz="1900" b="1" dirty="0">
              <a:solidFill>
                <a:srgbClr val="002060"/>
              </a:solidFill>
            </a:endParaRPr>
          </a:p>
          <a:p>
            <a:pPr algn="l">
              <a:lnSpc>
                <a:spcPct val="90000"/>
              </a:lnSpc>
            </a:pPr>
            <a:r>
              <a:rPr lang="en-US" sz="1900" dirty="0">
                <a:solidFill>
                  <a:srgbClr val="002060"/>
                </a:solidFill>
              </a:rPr>
              <a:t>Ish Kumar Jain (RPI) </a:t>
            </a:r>
          </a:p>
          <a:p>
            <a:pPr algn="l">
              <a:lnSpc>
                <a:spcPct val="90000"/>
              </a:lnSpc>
            </a:pPr>
            <a:r>
              <a:rPr lang="en-US" sz="1900" dirty="0" err="1">
                <a:solidFill>
                  <a:srgbClr val="002060"/>
                </a:solidFill>
              </a:rPr>
              <a:t>Renjie</a:t>
            </a:r>
            <a:r>
              <a:rPr lang="en-US" sz="1900" dirty="0">
                <a:solidFill>
                  <a:srgbClr val="002060"/>
                </a:solidFill>
              </a:rPr>
              <a:t> Zhao (JHU)</a:t>
            </a:r>
          </a:p>
        </p:txBody>
      </p:sp>
      <p:pic>
        <p:nvPicPr>
          <p:cNvPr id="7" name="Picture 6" descr="Blue text on a black background&#10;&#10;AI-generated content may be incorrect.">
            <a:extLst>
              <a:ext uri="{FF2B5EF4-FFF2-40B4-BE49-F238E27FC236}">
                <a16:creationId xmlns:a16="http://schemas.microsoft.com/office/drawing/2014/main" id="{7E670580-AA23-338F-F5EC-53EF60664E7E}"/>
              </a:ext>
            </a:extLst>
          </p:cNvPr>
          <p:cNvPicPr>
            <a:picLocks noChangeAspect="1"/>
          </p:cNvPicPr>
          <p:nvPr/>
        </p:nvPicPr>
        <p:blipFill>
          <a:blip r:embed="rId3"/>
          <a:stretch>
            <a:fillRect/>
          </a:stretch>
        </p:blipFill>
        <p:spPr>
          <a:xfrm>
            <a:off x="4695717" y="1044656"/>
            <a:ext cx="4080750" cy="1438465"/>
          </a:xfrm>
          <a:prstGeom prst="rect">
            <a:avLst/>
          </a:prstGeom>
        </p:spPr>
      </p:pic>
      <p:pic>
        <p:nvPicPr>
          <p:cNvPr id="8" name="Picture 7" descr="A red square with white letters&#10;&#10;AI-generated content may be incorrect.">
            <a:extLst>
              <a:ext uri="{FF2B5EF4-FFF2-40B4-BE49-F238E27FC236}">
                <a16:creationId xmlns:a16="http://schemas.microsoft.com/office/drawing/2014/main" id="{9F9EE995-648A-EE80-813A-BE88C5B9325E}"/>
              </a:ext>
            </a:extLst>
          </p:cNvPr>
          <p:cNvPicPr>
            <a:picLocks noChangeAspect="1"/>
          </p:cNvPicPr>
          <p:nvPr/>
        </p:nvPicPr>
        <p:blipFill>
          <a:blip r:embed="rId4"/>
          <a:stretch>
            <a:fillRect/>
          </a:stretch>
        </p:blipFill>
        <p:spPr>
          <a:xfrm>
            <a:off x="5141727" y="4196971"/>
            <a:ext cx="3634740" cy="21263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9968" y="215191"/>
            <a:ext cx="7549592" cy="781699"/>
          </a:xfrm>
        </p:spPr>
        <p:txBody>
          <a:bodyPr anchor="b">
            <a:normAutofit/>
          </a:bodyPr>
          <a:lstStyle/>
          <a:p>
            <a:pPr>
              <a:lnSpc>
                <a:spcPct val="90000"/>
              </a:lnSpc>
            </a:pPr>
            <a:r>
              <a:rPr lang="en-US" sz="4200" b="1" dirty="0"/>
              <a:t>Frequency-Selective Fading</a:t>
            </a:r>
            <a:endParaRPr lang="en-US" sz="4200" dirty="0"/>
          </a:p>
        </p:txBody>
      </p:sp>
      <p:pic>
        <p:nvPicPr>
          <p:cNvPr id="17" name="Picture 16">
            <a:extLst>
              <a:ext uri="{FF2B5EF4-FFF2-40B4-BE49-F238E27FC236}">
                <a16:creationId xmlns:a16="http://schemas.microsoft.com/office/drawing/2014/main" id="{B698BF94-4647-3B87-E5DF-4573ECD9ECB9}"/>
              </a:ext>
            </a:extLst>
          </p:cNvPr>
          <p:cNvPicPr>
            <a:picLocks noChangeAspect="1"/>
          </p:cNvPicPr>
          <p:nvPr/>
        </p:nvPicPr>
        <p:blipFill>
          <a:blip r:embed="rId3"/>
          <a:stretch>
            <a:fillRect/>
          </a:stretch>
        </p:blipFill>
        <p:spPr>
          <a:xfrm>
            <a:off x="797204" y="1215422"/>
            <a:ext cx="5411091" cy="5210681"/>
          </a:xfrm>
          <a:prstGeom prst="rect">
            <a:avLst/>
          </a:prstGeom>
        </p:spPr>
      </p:pic>
      <p:cxnSp>
        <p:nvCxnSpPr>
          <p:cNvPr id="46" name="Straight Arrow Connector 45">
            <a:extLst>
              <a:ext uri="{FF2B5EF4-FFF2-40B4-BE49-F238E27FC236}">
                <a16:creationId xmlns:a16="http://schemas.microsoft.com/office/drawing/2014/main" id="{87131810-4B7F-99F2-D67C-49BADAC2016E}"/>
              </a:ext>
            </a:extLst>
          </p:cNvPr>
          <p:cNvCxnSpPr>
            <a:cxnSpLocks/>
          </p:cNvCxnSpPr>
          <p:nvPr/>
        </p:nvCxnSpPr>
        <p:spPr>
          <a:xfrm>
            <a:off x="4487779" y="4949361"/>
            <a:ext cx="867610" cy="0"/>
          </a:xfrm>
          <a:prstGeom prst="straightConnector1">
            <a:avLst/>
          </a:prstGeom>
          <a:ln w="1016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D38ECFA2-B660-9987-025F-5B61F0F8C7EF}"/>
              </a:ext>
            </a:extLst>
          </p:cNvPr>
          <p:cNvSpPr txBox="1"/>
          <p:nvPr/>
        </p:nvSpPr>
        <p:spPr>
          <a:xfrm>
            <a:off x="4744764" y="3118445"/>
            <a:ext cx="1749903" cy="400110"/>
          </a:xfrm>
          <a:prstGeom prst="rect">
            <a:avLst/>
          </a:prstGeom>
          <a:noFill/>
        </p:spPr>
        <p:txBody>
          <a:bodyPr wrap="none" rtlCol="0">
            <a:spAutoFit/>
          </a:bodyPr>
          <a:lstStyle/>
          <a:p>
            <a:r>
              <a:rPr lang="en-US" sz="2000" dirty="0"/>
              <a:t>Signal S</a:t>
            </a:r>
            <a:r>
              <a:rPr lang="en-US" altLang="en-US" sz="2000" dirty="0"/>
              <a:t>trength</a:t>
            </a:r>
            <a:endParaRPr lang="en-US" sz="2000" dirty="0"/>
          </a:p>
        </p:txBody>
      </p:sp>
      <p:sp>
        <p:nvSpPr>
          <p:cNvPr id="48" name="TextBox 47">
            <a:extLst>
              <a:ext uri="{FF2B5EF4-FFF2-40B4-BE49-F238E27FC236}">
                <a16:creationId xmlns:a16="http://schemas.microsoft.com/office/drawing/2014/main" id="{BA21FF7A-2E57-1722-6627-1D4F3CD820E1}"/>
              </a:ext>
            </a:extLst>
          </p:cNvPr>
          <p:cNvSpPr txBox="1"/>
          <p:nvPr/>
        </p:nvSpPr>
        <p:spPr>
          <a:xfrm>
            <a:off x="6560693" y="5460994"/>
            <a:ext cx="1356397" cy="400110"/>
          </a:xfrm>
          <a:prstGeom prst="rect">
            <a:avLst/>
          </a:prstGeom>
          <a:noFill/>
        </p:spPr>
        <p:txBody>
          <a:bodyPr wrap="none" rtlCol="0">
            <a:spAutoFit/>
          </a:bodyPr>
          <a:lstStyle/>
          <a:p>
            <a:r>
              <a:rPr lang="en-US" sz="2000" dirty="0"/>
              <a:t>Subcarriers</a:t>
            </a:r>
            <a:endParaRPr lang="en-US" dirty="0"/>
          </a:p>
        </p:txBody>
      </p:sp>
      <p:pic>
        <p:nvPicPr>
          <p:cNvPr id="51" name="Picture 50" descr="A blue graph with black background&#10;&#10;AI-generated content may be incorrect.">
            <a:extLst>
              <a:ext uri="{FF2B5EF4-FFF2-40B4-BE49-F238E27FC236}">
                <a16:creationId xmlns:a16="http://schemas.microsoft.com/office/drawing/2014/main" id="{7EBD388B-F769-6867-0495-39B16406BA54}"/>
              </a:ext>
            </a:extLst>
          </p:cNvPr>
          <p:cNvPicPr>
            <a:picLocks noChangeAspect="1"/>
          </p:cNvPicPr>
          <p:nvPr/>
        </p:nvPicPr>
        <p:blipFill>
          <a:blip r:embed="rId4"/>
          <a:stretch>
            <a:fillRect/>
          </a:stretch>
        </p:blipFill>
        <p:spPr>
          <a:xfrm>
            <a:off x="5355389" y="3458393"/>
            <a:ext cx="3767007" cy="20026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dissolve">
                                      <p:cBhvr>
                                        <p:cTn id="15" dur="500"/>
                                        <p:tgtEl>
                                          <p:spTgt spid="47"/>
                                        </p:tgtEl>
                                      </p:cBhvr>
                                    </p:animEffect>
                                  </p:childTnLst>
                                </p:cTn>
                              </p:par>
                              <p:par>
                                <p:cTn id="16" presetID="9" presetClass="entr" presetSubtype="0" fill="hold" nodeType="with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dissolve">
                                      <p:cBhvr>
                                        <p:cTn id="18" dur="500"/>
                                        <p:tgtEl>
                                          <p:spTgt spid="51"/>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dissolve">
                                      <p:cBhvr>
                                        <p:cTn id="2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338797B-A73C-387A-66A1-09CE980F5270}"/>
              </a:ext>
            </a:extLst>
          </p:cNvPr>
          <p:cNvSpPr/>
          <p:nvPr/>
        </p:nvSpPr>
        <p:spPr>
          <a:xfrm>
            <a:off x="5744979" y="4539920"/>
            <a:ext cx="593386" cy="641057"/>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8360759-EE74-219E-F6C8-A894D1308030}"/>
              </a:ext>
            </a:extLst>
          </p:cNvPr>
          <p:cNvSpPr/>
          <p:nvPr/>
        </p:nvSpPr>
        <p:spPr>
          <a:xfrm>
            <a:off x="4952176" y="4539920"/>
            <a:ext cx="593386" cy="102365"/>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885310F-AE17-AE55-2ACD-B0A875AC10EF}"/>
              </a:ext>
            </a:extLst>
          </p:cNvPr>
          <p:cNvSpPr/>
          <p:nvPr/>
        </p:nvSpPr>
        <p:spPr>
          <a:xfrm>
            <a:off x="4180697" y="4539920"/>
            <a:ext cx="593386" cy="948370"/>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3707B77-B808-3ED0-B15C-90CBFE76446C}"/>
              </a:ext>
            </a:extLst>
          </p:cNvPr>
          <p:cNvSpPr/>
          <p:nvPr/>
        </p:nvSpPr>
        <p:spPr>
          <a:xfrm>
            <a:off x="3372264" y="4539921"/>
            <a:ext cx="593386" cy="369332"/>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995F6A3F-E957-5E63-1D56-E99634408F4E}"/>
              </a:ext>
            </a:extLst>
          </p:cNvPr>
          <p:cNvSpPr/>
          <p:nvPr/>
        </p:nvSpPr>
        <p:spPr>
          <a:xfrm>
            <a:off x="2590123" y="4539919"/>
            <a:ext cx="593386" cy="1804464"/>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DDBD224-10C7-451F-D535-AFF3B4967093}"/>
              </a:ext>
            </a:extLst>
          </p:cNvPr>
          <p:cNvSpPr/>
          <p:nvPr/>
        </p:nvSpPr>
        <p:spPr>
          <a:xfrm>
            <a:off x="1774712" y="4545440"/>
            <a:ext cx="593386" cy="700345"/>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F89C782-2171-C977-65B3-942838D558F5}"/>
              </a:ext>
            </a:extLst>
          </p:cNvPr>
          <p:cNvSpPr/>
          <p:nvPr/>
        </p:nvSpPr>
        <p:spPr>
          <a:xfrm>
            <a:off x="4952175" y="3334945"/>
            <a:ext cx="593386" cy="1132829"/>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E037663-74E5-4453-D519-ED309311ADCC}"/>
              </a:ext>
            </a:extLst>
          </p:cNvPr>
          <p:cNvSpPr/>
          <p:nvPr/>
        </p:nvSpPr>
        <p:spPr>
          <a:xfrm>
            <a:off x="3360318" y="3323992"/>
            <a:ext cx="593386" cy="1163317"/>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83BBFCE-37A6-8917-50EF-F31986883194}"/>
              </a:ext>
            </a:extLst>
          </p:cNvPr>
          <p:cNvSpPr/>
          <p:nvPr/>
        </p:nvSpPr>
        <p:spPr>
          <a:xfrm>
            <a:off x="5744979" y="3419023"/>
            <a:ext cx="593386" cy="1015302"/>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1297" y="145747"/>
            <a:ext cx="8701405" cy="1298448"/>
          </a:xfrm>
        </p:spPr>
        <p:txBody>
          <a:bodyPr anchor="b">
            <a:normAutofit/>
          </a:bodyPr>
          <a:lstStyle/>
          <a:p>
            <a:pPr>
              <a:lnSpc>
                <a:spcPct val="90000"/>
              </a:lnSpc>
            </a:pPr>
            <a:r>
              <a:rPr lang="en-US" sz="4200" b="1" dirty="0"/>
              <a:t>Receiver-side Equalization:</a:t>
            </a:r>
            <a:br>
              <a:rPr lang="en-US" sz="4200" b="1" dirty="0"/>
            </a:br>
            <a:r>
              <a:rPr lang="en-US" sz="4200" b="1" dirty="0"/>
              <a:t>A Hidden Cost</a:t>
            </a:r>
          </a:p>
        </p:txBody>
      </p:sp>
      <p:sp>
        <p:nvSpPr>
          <p:cNvPr id="11" name="Speech Bubble: Rectangle with Corners Rounded 85">
            <a:extLst>
              <a:ext uri="{FF2B5EF4-FFF2-40B4-BE49-F238E27FC236}">
                <a16:creationId xmlns:a16="http://schemas.microsoft.com/office/drawing/2014/main" id="{086E779D-A80C-F678-9C2E-38E84045950C}"/>
              </a:ext>
            </a:extLst>
          </p:cNvPr>
          <p:cNvSpPr/>
          <p:nvPr/>
        </p:nvSpPr>
        <p:spPr>
          <a:xfrm>
            <a:off x="7002246" y="1708703"/>
            <a:ext cx="1773763" cy="1045648"/>
          </a:xfrm>
          <a:prstGeom prst="wedgeRoundRectCallout">
            <a:avLst>
              <a:gd name="adj1" fmla="val -68578"/>
              <a:gd name="adj2" fmla="val 26090"/>
              <a:gd name="adj3" fmla="val 16667"/>
            </a:avLst>
          </a:prstGeom>
          <a:solidFill>
            <a:srgbClr val="00B05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b="1" dirty="0"/>
              <a:t>Equalization compensates channel distortion</a:t>
            </a:r>
          </a:p>
        </p:txBody>
      </p:sp>
      <p:sp>
        <p:nvSpPr>
          <p:cNvPr id="12" name="Speech Bubble: Rectangle with Corners Rounded 84">
            <a:extLst>
              <a:ext uri="{FF2B5EF4-FFF2-40B4-BE49-F238E27FC236}">
                <a16:creationId xmlns:a16="http://schemas.microsoft.com/office/drawing/2014/main" id="{8628911F-373E-249F-6201-2BE98CDCFE13}"/>
              </a:ext>
            </a:extLst>
          </p:cNvPr>
          <p:cNvSpPr/>
          <p:nvPr/>
        </p:nvSpPr>
        <p:spPr>
          <a:xfrm>
            <a:off x="7002247" y="5180977"/>
            <a:ext cx="1618980" cy="848418"/>
          </a:xfrm>
          <a:prstGeom prst="wedgeRoundRectCallout">
            <a:avLst>
              <a:gd name="adj1" fmla="val -68578"/>
              <a:gd name="adj2" fmla="val 26090"/>
              <a:gd name="adj3" fmla="val 16667"/>
            </a:avLst>
          </a:prstGeom>
          <a:solidFill>
            <a:srgbClr val="C0000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b="1" dirty="0">
                <a:solidFill>
                  <a:schemeClr val="bg1"/>
                </a:solidFill>
              </a:rPr>
              <a:t>But amplifies noise on deep fades!!</a:t>
            </a:r>
          </a:p>
        </p:txBody>
      </p:sp>
      <p:cxnSp>
        <p:nvCxnSpPr>
          <p:cNvPr id="15" name="Straight Arrow Connector 14">
            <a:extLst>
              <a:ext uri="{FF2B5EF4-FFF2-40B4-BE49-F238E27FC236}">
                <a16:creationId xmlns:a16="http://schemas.microsoft.com/office/drawing/2014/main" id="{3B800F04-188F-36A5-A768-5B5CC6FA9CA0}"/>
              </a:ext>
            </a:extLst>
          </p:cNvPr>
          <p:cNvCxnSpPr>
            <a:cxnSpLocks/>
          </p:cNvCxnSpPr>
          <p:nvPr/>
        </p:nvCxnSpPr>
        <p:spPr>
          <a:xfrm flipV="1">
            <a:off x="1537770" y="4457619"/>
            <a:ext cx="5193278" cy="1016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DA5237C-BF03-E2B0-5A94-68F31C1EDFCF}"/>
              </a:ext>
            </a:extLst>
          </p:cNvPr>
          <p:cNvCxnSpPr>
            <a:cxnSpLocks/>
          </p:cNvCxnSpPr>
          <p:nvPr/>
        </p:nvCxnSpPr>
        <p:spPr>
          <a:xfrm flipV="1">
            <a:off x="1537770" y="1815300"/>
            <a:ext cx="0" cy="265248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FEEB9585-CD09-8F9F-8C8B-F3D4F00CFB88}"/>
              </a:ext>
            </a:extLst>
          </p:cNvPr>
          <p:cNvSpPr/>
          <p:nvPr/>
        </p:nvSpPr>
        <p:spPr>
          <a:xfrm>
            <a:off x="1780963" y="3429183"/>
            <a:ext cx="593386" cy="101827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48CD4A7-08F8-5C1D-0556-AD565AC835A6}"/>
              </a:ext>
            </a:extLst>
          </p:cNvPr>
          <p:cNvSpPr/>
          <p:nvPr/>
        </p:nvSpPr>
        <p:spPr>
          <a:xfrm>
            <a:off x="3363445" y="3268413"/>
            <a:ext cx="593386" cy="1174271"/>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8EEB1D0-AF6D-951E-C24C-0C13C5519C45}"/>
              </a:ext>
            </a:extLst>
          </p:cNvPr>
          <p:cNvSpPr/>
          <p:nvPr/>
        </p:nvSpPr>
        <p:spPr>
          <a:xfrm>
            <a:off x="2590172" y="4301044"/>
            <a:ext cx="593386" cy="146414"/>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8D8E4F6-BBAE-D260-F475-82DB44C8D80A}"/>
              </a:ext>
            </a:extLst>
          </p:cNvPr>
          <p:cNvSpPr/>
          <p:nvPr/>
        </p:nvSpPr>
        <p:spPr>
          <a:xfrm>
            <a:off x="4159373" y="3993809"/>
            <a:ext cx="593386" cy="444282"/>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0151DB0-3CC4-5D29-03C0-8051CC1BEED6}"/>
              </a:ext>
            </a:extLst>
          </p:cNvPr>
          <p:cNvSpPr/>
          <p:nvPr/>
        </p:nvSpPr>
        <p:spPr>
          <a:xfrm>
            <a:off x="4952175" y="2190365"/>
            <a:ext cx="593386" cy="224772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1BDBB04-5EDA-64D1-59B6-1AD92529814A}"/>
              </a:ext>
            </a:extLst>
          </p:cNvPr>
          <p:cNvSpPr txBox="1"/>
          <p:nvPr/>
        </p:nvSpPr>
        <p:spPr>
          <a:xfrm>
            <a:off x="1194927" y="1393451"/>
            <a:ext cx="685686" cy="461665"/>
          </a:xfrm>
          <a:prstGeom prst="rect">
            <a:avLst/>
          </a:prstGeom>
          <a:noFill/>
        </p:spPr>
        <p:txBody>
          <a:bodyPr wrap="square" rtlCol="0">
            <a:spAutoFit/>
          </a:bodyPr>
          <a:lstStyle/>
          <a:p>
            <a:r>
              <a:rPr lang="en-US" sz="2400" dirty="0"/>
              <a:t>H(f)</a:t>
            </a:r>
          </a:p>
        </p:txBody>
      </p:sp>
      <p:sp>
        <p:nvSpPr>
          <p:cNvPr id="33" name="TextBox 32">
            <a:extLst>
              <a:ext uri="{FF2B5EF4-FFF2-40B4-BE49-F238E27FC236}">
                <a16:creationId xmlns:a16="http://schemas.microsoft.com/office/drawing/2014/main" id="{040316D1-EBAB-80FB-760F-1CB2563AF3D0}"/>
              </a:ext>
            </a:extLst>
          </p:cNvPr>
          <p:cNvSpPr txBox="1"/>
          <p:nvPr/>
        </p:nvSpPr>
        <p:spPr>
          <a:xfrm>
            <a:off x="6782416" y="4272953"/>
            <a:ext cx="1618980" cy="461665"/>
          </a:xfrm>
          <a:prstGeom prst="rect">
            <a:avLst/>
          </a:prstGeom>
          <a:noFill/>
        </p:spPr>
        <p:txBody>
          <a:bodyPr wrap="square" rtlCol="0">
            <a:spAutoFit/>
          </a:bodyPr>
          <a:lstStyle/>
          <a:p>
            <a:r>
              <a:rPr lang="en-US" sz="2400" dirty="0"/>
              <a:t>Subcarriers</a:t>
            </a:r>
          </a:p>
        </p:txBody>
      </p:sp>
      <p:sp>
        <p:nvSpPr>
          <p:cNvPr id="34" name="TextBox 33">
            <a:extLst>
              <a:ext uri="{FF2B5EF4-FFF2-40B4-BE49-F238E27FC236}">
                <a16:creationId xmlns:a16="http://schemas.microsoft.com/office/drawing/2014/main" id="{BE6DACF5-A250-964E-95BC-38C325B06357}"/>
              </a:ext>
            </a:extLst>
          </p:cNvPr>
          <p:cNvSpPr txBox="1"/>
          <p:nvPr/>
        </p:nvSpPr>
        <p:spPr>
          <a:xfrm>
            <a:off x="-40732" y="4467774"/>
            <a:ext cx="1618977" cy="461665"/>
          </a:xfrm>
          <a:prstGeom prst="rect">
            <a:avLst/>
          </a:prstGeom>
          <a:noFill/>
        </p:spPr>
        <p:txBody>
          <a:bodyPr wrap="square" rtlCol="0">
            <a:spAutoFit/>
          </a:bodyPr>
          <a:lstStyle/>
          <a:p>
            <a:r>
              <a:rPr lang="en-US" sz="2400" b="1" dirty="0">
                <a:solidFill>
                  <a:srgbClr val="FF0000"/>
                </a:solidFill>
              </a:rPr>
              <a:t>Noise Floor</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BDE4ECAA-76C4-C171-CB20-84E9898CC807}"/>
                  </a:ext>
                </a:extLst>
              </p:cNvPr>
              <p:cNvSpPr txBox="1"/>
              <p:nvPr/>
            </p:nvSpPr>
            <p:spPr>
              <a:xfrm>
                <a:off x="2020331" y="1614034"/>
                <a:ext cx="1362591" cy="8517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ea typeface="Cambria Math" panose="02040503050406030204" pitchFamily="18" charset="0"/>
                        </a:rPr>
                        <m:t>×</m:t>
                      </m:r>
                      <m:f>
                        <m:fPr>
                          <m:ctrlPr>
                            <a:rPr lang="en-US" sz="2400" b="1" i="1" smtClean="0">
                              <a:latin typeface="Cambria Math" panose="02040503050406030204" pitchFamily="18" charset="0"/>
                              <a:ea typeface="Cambria Math" panose="02040503050406030204" pitchFamily="18" charset="0"/>
                            </a:rPr>
                          </m:ctrlPr>
                        </m:fPr>
                        <m:num>
                          <m:r>
                            <a:rPr lang="en-US" sz="2400" b="1" i="1" smtClean="0">
                              <a:latin typeface="Cambria Math" panose="02040503050406030204" pitchFamily="18" charset="0"/>
                              <a:ea typeface="Cambria Math" panose="02040503050406030204" pitchFamily="18" charset="0"/>
                            </a:rPr>
                            <m:t>𝟏</m:t>
                          </m:r>
                        </m:num>
                        <m:den>
                          <m:r>
                            <a:rPr lang="en-US" sz="2400" b="1" i="1" smtClean="0">
                              <a:latin typeface="Cambria Math" panose="02040503050406030204" pitchFamily="18" charset="0"/>
                              <a:ea typeface="Cambria Math" panose="02040503050406030204" pitchFamily="18" charset="0"/>
                            </a:rPr>
                            <m:t>𝑯</m:t>
                          </m:r>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𝒇</m:t>
                          </m:r>
                          <m:r>
                            <a:rPr lang="en-US" sz="2400" b="1" i="1" smtClean="0">
                              <a:latin typeface="Cambria Math" panose="02040503050406030204" pitchFamily="18" charset="0"/>
                              <a:ea typeface="Cambria Math" panose="02040503050406030204" pitchFamily="18" charset="0"/>
                            </a:rPr>
                            <m:t>)</m:t>
                          </m:r>
                        </m:den>
                      </m:f>
                    </m:oMath>
                  </m:oMathPara>
                </a14:m>
                <a:endParaRPr lang="en-US" sz="2400" b="1" dirty="0"/>
              </a:p>
            </p:txBody>
          </p:sp>
        </mc:Choice>
        <mc:Fallback xmlns="">
          <p:sp>
            <p:nvSpPr>
              <p:cNvPr id="42" name="TextBox 41">
                <a:extLst>
                  <a:ext uri="{FF2B5EF4-FFF2-40B4-BE49-F238E27FC236}">
                    <a16:creationId xmlns:a16="http://schemas.microsoft.com/office/drawing/2014/main" id="{BDE4ECAA-76C4-C171-CB20-84E9898CC807}"/>
                  </a:ext>
                </a:extLst>
              </p:cNvPr>
              <p:cNvSpPr txBox="1">
                <a:spLocks noRot="1" noChangeAspect="1" noMove="1" noResize="1" noEditPoints="1" noAdjustHandles="1" noChangeArrowheads="1" noChangeShapeType="1" noTextEdit="1"/>
              </p:cNvSpPr>
              <p:nvPr/>
            </p:nvSpPr>
            <p:spPr>
              <a:xfrm>
                <a:off x="2020331" y="1614034"/>
                <a:ext cx="1362591" cy="851708"/>
              </a:xfrm>
              <a:prstGeom prst="rect">
                <a:avLst/>
              </a:prstGeom>
              <a:blipFill>
                <a:blip r:embed="rId3"/>
                <a:stretch>
                  <a:fillRect b="-11940"/>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C50C2D76-0DE2-5D55-67D6-EB3D1BE1DD20}"/>
              </a:ext>
            </a:extLst>
          </p:cNvPr>
          <p:cNvSpPr/>
          <p:nvPr/>
        </p:nvSpPr>
        <p:spPr>
          <a:xfrm>
            <a:off x="1777663" y="4543466"/>
            <a:ext cx="593386" cy="63751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C545B00C-9B8D-920D-A7DF-F6EF1F28B5E8}"/>
              </a:ext>
            </a:extLst>
          </p:cNvPr>
          <p:cNvSpPr/>
          <p:nvPr/>
        </p:nvSpPr>
        <p:spPr>
          <a:xfrm>
            <a:off x="2593074" y="4543466"/>
            <a:ext cx="593386" cy="63751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CBD78BB4-A4D8-C03B-3706-E25077F165CA}"/>
              </a:ext>
            </a:extLst>
          </p:cNvPr>
          <p:cNvSpPr/>
          <p:nvPr/>
        </p:nvSpPr>
        <p:spPr>
          <a:xfrm>
            <a:off x="3372264" y="4542888"/>
            <a:ext cx="593386" cy="63751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E58DBC83-F21F-3E02-5334-F97E4FE3CE84}"/>
              </a:ext>
            </a:extLst>
          </p:cNvPr>
          <p:cNvSpPr/>
          <p:nvPr/>
        </p:nvSpPr>
        <p:spPr>
          <a:xfrm>
            <a:off x="4180697" y="4552574"/>
            <a:ext cx="593386" cy="63751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D235BA8E-05C1-F3F8-A2C4-BDB642D26D65}"/>
              </a:ext>
            </a:extLst>
          </p:cNvPr>
          <p:cNvSpPr/>
          <p:nvPr/>
        </p:nvSpPr>
        <p:spPr>
          <a:xfrm>
            <a:off x="4952175" y="4552574"/>
            <a:ext cx="593386" cy="63751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64ABB0B7-74C5-4473-9B71-9D850B209FEC}"/>
              </a:ext>
            </a:extLst>
          </p:cNvPr>
          <p:cNvSpPr/>
          <p:nvPr/>
        </p:nvSpPr>
        <p:spPr>
          <a:xfrm>
            <a:off x="5744978" y="4539919"/>
            <a:ext cx="593386" cy="63751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613919A-866F-BBC5-D3A8-F94A4AF8E890}"/>
              </a:ext>
            </a:extLst>
          </p:cNvPr>
          <p:cNvSpPr/>
          <p:nvPr/>
        </p:nvSpPr>
        <p:spPr>
          <a:xfrm>
            <a:off x="1777663" y="3332328"/>
            <a:ext cx="593386" cy="11103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7F5035A-38A7-ECEB-0CCD-B66E3EEDC8DE}"/>
              </a:ext>
            </a:extLst>
          </p:cNvPr>
          <p:cNvSpPr/>
          <p:nvPr/>
        </p:nvSpPr>
        <p:spPr>
          <a:xfrm>
            <a:off x="2590123" y="3332329"/>
            <a:ext cx="593386" cy="1105489"/>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56B702D-99FF-18B8-7AA9-4C3878E2BD5E}"/>
              </a:ext>
            </a:extLst>
          </p:cNvPr>
          <p:cNvSpPr/>
          <p:nvPr/>
        </p:nvSpPr>
        <p:spPr>
          <a:xfrm>
            <a:off x="4159373" y="3334945"/>
            <a:ext cx="593386" cy="110226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A423D8F-F1E3-32C9-D78C-6F26628F7AE7}"/>
              </a:ext>
            </a:extLst>
          </p:cNvPr>
          <p:cNvSpPr/>
          <p:nvPr/>
        </p:nvSpPr>
        <p:spPr>
          <a:xfrm>
            <a:off x="5744977" y="3332330"/>
            <a:ext cx="593386" cy="109938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hidden"/>
                                      </p:to>
                                    </p:set>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hidden"/>
                                      </p:to>
                                    </p:set>
                                  </p:childTnLst>
                                </p:cTn>
                              </p:par>
                              <p:par>
                                <p:cTn id="23" presetID="3" presetClass="entr" presetSubtype="1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linds(horizontal)">
                                      <p:cBhvr>
                                        <p:cTn id="25" dur="500"/>
                                        <p:tgtEl>
                                          <p:spTgt spid="3"/>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blinds(horizontal)">
                                      <p:cBhvr>
                                        <p:cTn id="31" dur="500"/>
                                        <p:tgtEl>
                                          <p:spTgt spid="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linds(horizontal)">
                                      <p:cBhvr>
                                        <p:cTn id="34" dur="500"/>
                                        <p:tgtEl>
                                          <p:spTgt spid="7"/>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blinds(horizontal)">
                                      <p:cBhvr>
                                        <p:cTn id="37" dur="500"/>
                                        <p:tgtEl>
                                          <p:spTgt spid="41"/>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blinds(horizontal)">
                                      <p:cBhvr>
                                        <p:cTn id="40" dur="500"/>
                                        <p:tgtEl>
                                          <p:spTgt spid="4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dissolve">
                                      <p:cBhvr>
                                        <p:cTn id="45" dur="500"/>
                                        <p:tgtEl>
                                          <p:spTgt spid="28"/>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dissolve">
                                      <p:cBhvr>
                                        <p:cTn id="48" dur="500"/>
                                        <p:tgtEl>
                                          <p:spTgt spid="26"/>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dissolve">
                                      <p:cBhvr>
                                        <p:cTn id="51" dur="500"/>
                                        <p:tgtEl>
                                          <p:spTgt spid="24"/>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dissolve">
                                      <p:cBhvr>
                                        <p:cTn id="54" dur="500"/>
                                        <p:tgtEl>
                                          <p:spTgt spid="27"/>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dissolve">
                                      <p:cBhvr>
                                        <p:cTn id="60" dur="500"/>
                                        <p:tgtEl>
                                          <p:spTgt spid="48"/>
                                        </p:tgtEl>
                                      </p:cBhvr>
                                    </p:animEffect>
                                  </p:childTnLst>
                                </p:cTn>
                              </p:par>
                              <p:par>
                                <p:cTn id="61" presetID="1" presetClass="exit"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hidden"/>
                                      </p:to>
                                    </p:set>
                                  </p:childTnLst>
                                </p:cTn>
                              </p:par>
                              <p:par>
                                <p:cTn id="63" presetID="1" presetClass="exit" presetSubtype="0" fill="hold" grpId="0" nodeType="withEffect">
                                  <p:stCondLst>
                                    <p:cond delay="0"/>
                                  </p:stCondLst>
                                  <p:childTnLst>
                                    <p:set>
                                      <p:cBhvr>
                                        <p:cTn id="64" dur="1" fill="hold">
                                          <p:stCondLst>
                                            <p:cond delay="0"/>
                                          </p:stCondLst>
                                        </p:cTn>
                                        <p:tgtEl>
                                          <p:spTgt spid="47"/>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46"/>
                                        </p:tgtEl>
                                        <p:attrNameLst>
                                          <p:attrName>style.visibility</p:attrName>
                                        </p:attrNameLst>
                                      </p:cBhvr>
                                      <p:to>
                                        <p:strVal val="hidden"/>
                                      </p:to>
                                    </p:set>
                                  </p:childTnLst>
                                </p:cTn>
                              </p:par>
                              <p:par>
                                <p:cTn id="67" presetID="1" presetClass="exit"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hidden"/>
                                      </p:to>
                                    </p:set>
                                  </p:childTnLst>
                                </p:cTn>
                              </p:par>
                              <p:par>
                                <p:cTn id="69" presetID="1" presetClass="exit" presetSubtype="0" fill="hold" grpId="0" nodeType="withEffect">
                                  <p:stCondLst>
                                    <p:cond delay="0"/>
                                  </p:stCondLst>
                                  <p:childTnLst>
                                    <p:set>
                                      <p:cBhvr>
                                        <p:cTn id="70" dur="1" fill="hold">
                                          <p:stCondLst>
                                            <p:cond delay="0"/>
                                          </p:stCondLst>
                                        </p:cTn>
                                        <p:tgtEl>
                                          <p:spTgt spid="44"/>
                                        </p:tgtEl>
                                        <p:attrNameLst>
                                          <p:attrName>style.visibility</p:attrName>
                                        </p:attrNameLst>
                                      </p:cBhvr>
                                      <p:to>
                                        <p:strVal val="hidden"/>
                                      </p:to>
                                    </p:set>
                                  </p:childTnLst>
                                </p:cTn>
                              </p:par>
                              <p:par>
                                <p:cTn id="71" presetID="1" presetClass="exit" presetSubtype="0" fill="hold" grpId="0" nodeType="withEffect">
                                  <p:stCondLst>
                                    <p:cond delay="0"/>
                                  </p:stCondLst>
                                  <p:childTnLst>
                                    <p:set>
                                      <p:cBhvr>
                                        <p:cTn id="72" dur="1" fill="hold">
                                          <p:stCondLst>
                                            <p:cond delay="0"/>
                                          </p:stCondLst>
                                        </p:cTn>
                                        <p:tgtEl>
                                          <p:spTgt spid="43"/>
                                        </p:tgtEl>
                                        <p:attrNameLst>
                                          <p:attrName>style.visibility</p:attrName>
                                        </p:attrNameLst>
                                      </p:cBhvr>
                                      <p:to>
                                        <p:strVal val="hidden"/>
                                      </p:to>
                                    </p:set>
                                  </p:childTnLst>
                                </p:cTn>
                              </p:par>
                              <p:par>
                                <p:cTn id="73" presetID="2" presetClass="entr" presetSubtype="4" fill="hold" grpId="0" nodeType="withEffect">
                                  <p:stCondLst>
                                    <p:cond delay="0"/>
                                  </p:stCondLst>
                                  <p:childTnLst>
                                    <p:set>
                                      <p:cBhvr>
                                        <p:cTn id="74" dur="1" fill="hold">
                                          <p:stCondLst>
                                            <p:cond delay="0"/>
                                          </p:stCondLst>
                                        </p:cTn>
                                        <p:tgtEl>
                                          <p:spTgt spid="12"/>
                                        </p:tgtEl>
                                        <p:attrNameLst>
                                          <p:attrName>style.visibility</p:attrName>
                                        </p:attrNameLst>
                                      </p:cBhvr>
                                      <p:to>
                                        <p:strVal val="visible"/>
                                      </p:to>
                                    </p:set>
                                    <p:anim calcmode="lin" valueType="num">
                                      <p:cBhvr additive="base">
                                        <p:cTn id="75" dur="500" fill="hold"/>
                                        <p:tgtEl>
                                          <p:spTgt spid="12"/>
                                        </p:tgtEl>
                                        <p:attrNameLst>
                                          <p:attrName>ppt_x</p:attrName>
                                        </p:attrNameLst>
                                      </p:cBhvr>
                                      <p:tavLst>
                                        <p:tav tm="0">
                                          <p:val>
                                            <p:strVal val="#ppt_x"/>
                                          </p:val>
                                        </p:tav>
                                        <p:tav tm="100000">
                                          <p:val>
                                            <p:strVal val="#ppt_x"/>
                                          </p:val>
                                        </p:tav>
                                      </p:tavLst>
                                    </p:anim>
                                    <p:anim calcmode="lin" valueType="num">
                                      <p:cBhvr additive="base">
                                        <p:cTn id="7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5" grpId="0" animBg="1"/>
      <p:bldP spid="27" grpId="0" animBg="1"/>
      <p:bldP spid="24" grpId="0" animBg="1"/>
      <p:bldP spid="26" grpId="0" animBg="1"/>
      <p:bldP spid="28" grpId="0" animBg="1"/>
      <p:bldP spid="40" grpId="0" animBg="1"/>
      <p:bldP spid="41" grpId="0" animBg="1"/>
      <p:bldP spid="23" grpId="0" animBg="1"/>
      <p:bldP spid="11" grpId="0" animBg="1"/>
      <p:bldP spid="12" grpId="0" animBg="1"/>
      <p:bldP spid="17" grpId="0" animBg="1"/>
      <p:bldP spid="18" grpId="0" animBg="1"/>
      <p:bldP spid="19" grpId="0" animBg="1"/>
      <p:bldP spid="20" grpId="0" animBg="1"/>
      <p:bldP spid="21" grpId="0" animBg="1"/>
      <p:bldP spid="42" grpId="0"/>
      <p:bldP spid="43" grpId="0" animBg="1"/>
      <p:bldP spid="44" grpId="0" animBg="1"/>
      <p:bldP spid="45" grpId="0" animBg="1"/>
      <p:bldP spid="46" grpId="0" animBg="1"/>
      <p:bldP spid="47" grpId="0" animBg="1"/>
      <p:bldP spid="48" grpId="0" animBg="1"/>
      <p:bldP spid="3" grpId="0" animBg="1"/>
      <p:bldP spid="4" grpId="0" animBg="1"/>
      <p:bldP spid="5"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668CDC-8965-77BA-BBDC-3E6FAEE7B502}"/>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A41B62DE-C029-F29A-E970-CB9FB07A0E74}"/>
              </a:ext>
            </a:extLst>
          </p:cNvPr>
          <p:cNvSpPr/>
          <p:nvPr/>
        </p:nvSpPr>
        <p:spPr>
          <a:xfrm rot="10800000">
            <a:off x="6351329" y="3577134"/>
            <a:ext cx="593386" cy="1141336"/>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A5E95B8A-6C00-6254-67A4-69E0DC5257CB}"/>
              </a:ext>
            </a:extLst>
          </p:cNvPr>
          <p:cNvSpPr/>
          <p:nvPr/>
        </p:nvSpPr>
        <p:spPr>
          <a:xfrm rot="10800000">
            <a:off x="4787047" y="3577135"/>
            <a:ext cx="593386" cy="817994"/>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F9BFF51-7908-6145-FD85-94F0CC8CA47C}"/>
              </a:ext>
            </a:extLst>
          </p:cNvPr>
          <p:cNvSpPr/>
          <p:nvPr/>
        </p:nvSpPr>
        <p:spPr>
          <a:xfrm rot="10800000">
            <a:off x="3978614" y="3577135"/>
            <a:ext cx="593386" cy="1414625"/>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3A01BF96-C41E-BD06-8262-A6A0E7932DB3}"/>
              </a:ext>
            </a:extLst>
          </p:cNvPr>
          <p:cNvSpPr/>
          <p:nvPr/>
        </p:nvSpPr>
        <p:spPr>
          <a:xfrm rot="10800000">
            <a:off x="3178833" y="3589789"/>
            <a:ext cx="593386" cy="1794302"/>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BF923CE-0CE1-DC2C-9604-E38C6FC4462A}"/>
              </a:ext>
            </a:extLst>
          </p:cNvPr>
          <p:cNvSpPr/>
          <p:nvPr/>
        </p:nvSpPr>
        <p:spPr>
          <a:xfrm rot="10800000">
            <a:off x="2381062" y="3582654"/>
            <a:ext cx="593386" cy="1101091"/>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58796E-8B93-8F9C-6381-60F62174CBCF}"/>
              </a:ext>
            </a:extLst>
          </p:cNvPr>
          <p:cNvSpPr>
            <a:spLocks noGrp="1"/>
          </p:cNvSpPr>
          <p:nvPr>
            <p:ph type="title"/>
          </p:nvPr>
        </p:nvSpPr>
        <p:spPr>
          <a:xfrm>
            <a:off x="221297" y="404997"/>
            <a:ext cx="8701405" cy="783159"/>
          </a:xfrm>
        </p:spPr>
        <p:txBody>
          <a:bodyPr anchor="b">
            <a:normAutofit/>
          </a:bodyPr>
          <a:lstStyle/>
          <a:p>
            <a:pPr>
              <a:lnSpc>
                <a:spcPct val="90000"/>
              </a:lnSpc>
            </a:pPr>
            <a:r>
              <a:rPr lang="en-US" sz="4200" b="1" dirty="0"/>
              <a:t>Transmitter side: Water</a:t>
            </a:r>
            <a:r>
              <a:rPr lang="en-US" altLang="zh-CN" sz="4200" b="1" dirty="0"/>
              <a:t> </a:t>
            </a:r>
            <a:r>
              <a:rPr lang="en-US" sz="4200" b="1" dirty="0"/>
              <a:t>filling</a:t>
            </a:r>
          </a:p>
        </p:txBody>
      </p:sp>
      <p:cxnSp>
        <p:nvCxnSpPr>
          <p:cNvPr id="15" name="Straight Arrow Connector 14">
            <a:extLst>
              <a:ext uri="{FF2B5EF4-FFF2-40B4-BE49-F238E27FC236}">
                <a16:creationId xmlns:a16="http://schemas.microsoft.com/office/drawing/2014/main" id="{25B8BC2C-CD75-C80C-D960-F50EE583BBFC}"/>
              </a:ext>
            </a:extLst>
          </p:cNvPr>
          <p:cNvCxnSpPr>
            <a:cxnSpLocks/>
          </p:cNvCxnSpPr>
          <p:nvPr/>
        </p:nvCxnSpPr>
        <p:spPr>
          <a:xfrm flipV="1">
            <a:off x="2097204" y="5394253"/>
            <a:ext cx="5193278" cy="1016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F30F81E-A6D1-3141-ED0F-BAFCD3A47CF7}"/>
              </a:ext>
            </a:extLst>
          </p:cNvPr>
          <p:cNvCxnSpPr>
            <a:cxnSpLocks/>
          </p:cNvCxnSpPr>
          <p:nvPr/>
        </p:nvCxnSpPr>
        <p:spPr>
          <a:xfrm flipV="1">
            <a:off x="2097204" y="2751934"/>
            <a:ext cx="0" cy="265248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476E294-6023-0E8E-9959-A927C1F9AA02}"/>
                  </a:ext>
                </a:extLst>
              </p:cNvPr>
              <p:cNvSpPr txBox="1"/>
              <p:nvPr/>
            </p:nvSpPr>
            <p:spPr>
              <a:xfrm>
                <a:off x="1655220" y="1880220"/>
                <a:ext cx="883968" cy="87171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sz="2400" i="1" dirty="0" smtClean="0">
                              <a:latin typeface="Cambria Math" panose="02040503050406030204" pitchFamily="18" charset="0"/>
                            </a:rPr>
                          </m:ctrlPr>
                        </m:fPr>
                        <m:num>
                          <m:r>
                            <a:rPr lang="en-US" sz="2400" i="1" dirty="0">
                              <a:latin typeface="Cambria Math" panose="02040503050406030204" pitchFamily="18" charset="0"/>
                            </a:rPr>
                            <m:t>𝑁𝑜𝑖𝑠𝑒</m:t>
                          </m:r>
                        </m:num>
                        <m:den>
                          <m:sSup>
                            <m:sSupPr>
                              <m:ctrlPr>
                                <a:rPr lang="en-US" sz="2400" b="0" i="1" dirty="0" smtClean="0">
                                  <a:latin typeface="Cambria Math" panose="02040503050406030204" pitchFamily="18" charset="0"/>
                                </a:rPr>
                              </m:ctrlPr>
                            </m:sSupPr>
                            <m:e>
                              <m:r>
                                <a:rPr lang="en-US" sz="2400" i="1" dirty="0">
                                  <a:latin typeface="Cambria Math" panose="02040503050406030204" pitchFamily="18" charset="0"/>
                                </a:rPr>
                                <m:t>𝐻</m:t>
                              </m:r>
                              <m:r>
                                <a:rPr lang="en-US" sz="2400" i="1" dirty="0">
                                  <a:latin typeface="Cambria Math" panose="02040503050406030204" pitchFamily="18" charset="0"/>
                                </a:rPr>
                                <m:t>(</m:t>
                              </m:r>
                              <m:r>
                                <a:rPr lang="en-US" sz="2400" i="1" dirty="0">
                                  <a:latin typeface="Cambria Math" panose="02040503050406030204" pitchFamily="18" charset="0"/>
                                </a:rPr>
                                <m:t>𝑓</m:t>
                              </m:r>
                              <m:r>
                                <a:rPr lang="en-US" sz="2400" i="1" dirty="0">
                                  <a:latin typeface="Cambria Math" panose="02040503050406030204" pitchFamily="18" charset="0"/>
                                </a:rPr>
                                <m:t>)</m:t>
                              </m:r>
                            </m:e>
                            <m:sup>
                              <m:r>
                                <a:rPr lang="en-US" sz="2400" b="0" i="1" dirty="0" smtClean="0">
                                  <a:latin typeface="Cambria Math" panose="02040503050406030204" pitchFamily="18" charset="0"/>
                                </a:rPr>
                                <m:t>2</m:t>
                              </m:r>
                            </m:sup>
                          </m:sSup>
                        </m:den>
                      </m:f>
                    </m:oMath>
                  </m:oMathPara>
                </a14:m>
                <a:endParaRPr lang="en-US" sz="2400" dirty="0"/>
              </a:p>
            </p:txBody>
          </p:sp>
        </mc:Choice>
        <mc:Fallback xmlns="">
          <p:sp>
            <p:nvSpPr>
              <p:cNvPr id="32" name="TextBox 31">
                <a:extLst>
                  <a:ext uri="{FF2B5EF4-FFF2-40B4-BE49-F238E27FC236}">
                    <a16:creationId xmlns:a16="http://schemas.microsoft.com/office/drawing/2014/main" id="{4476E294-6023-0E8E-9959-A927C1F9AA02}"/>
                  </a:ext>
                </a:extLst>
              </p:cNvPr>
              <p:cNvSpPr txBox="1">
                <a:spLocks noRot="1" noChangeAspect="1" noMove="1" noResize="1" noEditPoints="1" noAdjustHandles="1" noChangeArrowheads="1" noChangeShapeType="1" noTextEdit="1"/>
              </p:cNvSpPr>
              <p:nvPr/>
            </p:nvSpPr>
            <p:spPr>
              <a:xfrm>
                <a:off x="1655220" y="1880220"/>
                <a:ext cx="883968" cy="871713"/>
              </a:xfrm>
              <a:prstGeom prst="rect">
                <a:avLst/>
              </a:prstGeom>
              <a:blipFill>
                <a:blip r:embed="rId3"/>
                <a:stretch>
                  <a:fillRect l="-11268" r="-1408" b="-7143"/>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CFAF4A50-6AB5-00C0-1B0E-73A24D5218F2}"/>
              </a:ext>
            </a:extLst>
          </p:cNvPr>
          <p:cNvSpPr txBox="1"/>
          <p:nvPr/>
        </p:nvSpPr>
        <p:spPr>
          <a:xfrm>
            <a:off x="3859498" y="5470734"/>
            <a:ext cx="1641310" cy="461665"/>
          </a:xfrm>
          <a:prstGeom prst="rect">
            <a:avLst/>
          </a:prstGeom>
          <a:noFill/>
        </p:spPr>
        <p:txBody>
          <a:bodyPr wrap="square" rtlCol="0">
            <a:spAutoFit/>
          </a:bodyPr>
          <a:lstStyle/>
          <a:p>
            <a:r>
              <a:rPr lang="en-US" sz="2400" dirty="0"/>
              <a:t>Subcarriers</a:t>
            </a:r>
            <a:endParaRPr lang="en-US" dirty="0"/>
          </a:p>
        </p:txBody>
      </p:sp>
      <p:sp>
        <p:nvSpPr>
          <p:cNvPr id="9" name="Rectangle 8">
            <a:extLst>
              <a:ext uri="{FF2B5EF4-FFF2-40B4-BE49-F238E27FC236}">
                <a16:creationId xmlns:a16="http://schemas.microsoft.com/office/drawing/2014/main" id="{5029E679-35FA-243A-6624-864C3DED004F}"/>
              </a:ext>
            </a:extLst>
          </p:cNvPr>
          <p:cNvSpPr/>
          <p:nvPr/>
        </p:nvSpPr>
        <p:spPr>
          <a:xfrm rot="10800000">
            <a:off x="5569187" y="3577134"/>
            <a:ext cx="593386" cy="1679356"/>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B54865D-8C1C-DFC3-2168-B004A9BCBEF7}"/>
              </a:ext>
            </a:extLst>
          </p:cNvPr>
          <p:cNvSpPr/>
          <p:nvPr/>
        </p:nvSpPr>
        <p:spPr>
          <a:xfrm rot="10800000">
            <a:off x="6351329" y="4718470"/>
            <a:ext cx="593386" cy="655457"/>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FFBEE59-5385-E5AF-8188-33D99107D597}"/>
              </a:ext>
            </a:extLst>
          </p:cNvPr>
          <p:cNvSpPr/>
          <p:nvPr/>
        </p:nvSpPr>
        <p:spPr>
          <a:xfrm rot="10800000">
            <a:off x="5569187" y="5256489"/>
            <a:ext cx="593386" cy="117439"/>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D9D74D1-AF6C-95D5-41C3-645A3FE39F48}"/>
              </a:ext>
            </a:extLst>
          </p:cNvPr>
          <p:cNvSpPr/>
          <p:nvPr/>
        </p:nvSpPr>
        <p:spPr>
          <a:xfrm rot="10800000">
            <a:off x="4787047" y="4395129"/>
            <a:ext cx="593386" cy="988962"/>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DC6067A-121A-B2EF-5259-1B2F71D8DC4A}"/>
              </a:ext>
            </a:extLst>
          </p:cNvPr>
          <p:cNvSpPr/>
          <p:nvPr/>
        </p:nvSpPr>
        <p:spPr>
          <a:xfrm rot="10800000">
            <a:off x="3978614" y="4991761"/>
            <a:ext cx="593386" cy="382168"/>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E180C2CE-BBFC-43E9-E6BD-911B6E18635F}"/>
              </a:ext>
            </a:extLst>
          </p:cNvPr>
          <p:cNvSpPr/>
          <p:nvPr/>
        </p:nvSpPr>
        <p:spPr>
          <a:xfrm rot="10800000">
            <a:off x="2379051" y="4683746"/>
            <a:ext cx="593386" cy="700345"/>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C845338-1D7B-818A-9321-3CF62FD3C8E8}"/>
              </a:ext>
            </a:extLst>
          </p:cNvPr>
          <p:cNvSpPr/>
          <p:nvPr/>
        </p:nvSpPr>
        <p:spPr>
          <a:xfrm>
            <a:off x="3997982" y="1769308"/>
            <a:ext cx="1391722" cy="843847"/>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solidFill>
                  <a:schemeClr val="tx1"/>
                </a:solidFill>
              </a:rPr>
              <a:t>Power</a:t>
            </a:r>
          </a:p>
        </p:txBody>
      </p:sp>
      <p:sp>
        <p:nvSpPr>
          <p:cNvPr id="4" name="Down Arrow 3">
            <a:extLst>
              <a:ext uri="{FF2B5EF4-FFF2-40B4-BE49-F238E27FC236}">
                <a16:creationId xmlns:a16="http://schemas.microsoft.com/office/drawing/2014/main" id="{C5874713-B029-C703-DC44-B185E56C0CA9}"/>
              </a:ext>
            </a:extLst>
          </p:cNvPr>
          <p:cNvSpPr/>
          <p:nvPr/>
        </p:nvSpPr>
        <p:spPr>
          <a:xfrm rot="3043101" flipH="1">
            <a:off x="3244656" y="2580396"/>
            <a:ext cx="391811" cy="966084"/>
          </a:xfrm>
          <a:prstGeom prst="downArrow">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Down Arrow 4">
            <a:extLst>
              <a:ext uri="{FF2B5EF4-FFF2-40B4-BE49-F238E27FC236}">
                <a16:creationId xmlns:a16="http://schemas.microsoft.com/office/drawing/2014/main" id="{6F63D55E-6C32-8C51-34C0-EB81B905B896}"/>
              </a:ext>
            </a:extLst>
          </p:cNvPr>
          <p:cNvSpPr/>
          <p:nvPr/>
        </p:nvSpPr>
        <p:spPr>
          <a:xfrm flipH="1">
            <a:off x="4461680" y="2750917"/>
            <a:ext cx="391811" cy="678083"/>
          </a:xfrm>
          <a:prstGeom prst="downArrow">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Down Arrow 5">
            <a:extLst>
              <a:ext uri="{FF2B5EF4-FFF2-40B4-BE49-F238E27FC236}">
                <a16:creationId xmlns:a16="http://schemas.microsoft.com/office/drawing/2014/main" id="{22363544-6EB9-0E29-A82A-F8C9631415EB}"/>
              </a:ext>
            </a:extLst>
          </p:cNvPr>
          <p:cNvSpPr/>
          <p:nvPr/>
        </p:nvSpPr>
        <p:spPr>
          <a:xfrm rot="18774939" flipH="1">
            <a:off x="5740445" y="2580395"/>
            <a:ext cx="391811" cy="966084"/>
          </a:xfrm>
          <a:prstGeom prst="downArrow">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BE1748C0-DE6B-BBE3-DFFD-6D07835B9D31}"/>
              </a:ext>
            </a:extLst>
          </p:cNvPr>
          <p:cNvSpPr txBox="1"/>
          <p:nvPr/>
        </p:nvSpPr>
        <p:spPr>
          <a:xfrm>
            <a:off x="672431" y="1452549"/>
            <a:ext cx="2961516" cy="369332"/>
          </a:xfrm>
          <a:prstGeom prst="rect">
            <a:avLst/>
          </a:prstGeom>
          <a:noFill/>
        </p:spPr>
        <p:txBody>
          <a:bodyPr wrap="none" rtlCol="0">
            <a:spAutoFit/>
          </a:bodyPr>
          <a:lstStyle/>
          <a:p>
            <a:r>
              <a:rPr lang="en-US" b="1" dirty="0">
                <a:solidFill>
                  <a:srgbClr val="FF0000"/>
                </a:solidFill>
              </a:rPr>
              <a:t>Noise-to-Channel-Gain Ratio</a:t>
            </a:r>
            <a:r>
              <a:rPr lang="en-US" altLang="zh-CN" b="1" dirty="0">
                <a:solidFill>
                  <a:srgbClr val="FF0000"/>
                </a:solidFill>
              </a:rPr>
              <a:t> </a:t>
            </a:r>
            <a:endParaRPr lang="en-US" b="1" dirty="0">
              <a:solidFill>
                <a:srgbClr val="FF0000"/>
              </a:solidFill>
            </a:endParaRPr>
          </a:p>
        </p:txBody>
      </p:sp>
    </p:spTree>
    <p:extLst>
      <p:ext uri="{BB962C8B-B14F-4D97-AF65-F5344CB8AC3E}">
        <p14:creationId xmlns:p14="http://schemas.microsoft.com/office/powerpoint/2010/main" val="16281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heckerboard(across)">
                                      <p:cBhvr>
                                        <p:cTn id="7" dur="500"/>
                                        <p:tgtEl>
                                          <p:spTgt spid="2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checkerboard(across)">
                                      <p:cBhvr>
                                        <p:cTn id="10" dur="500"/>
                                        <p:tgtEl>
                                          <p:spTgt spid="24"/>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checkerboard(across)">
                                      <p:cBhvr>
                                        <p:cTn id="13" dur="500"/>
                                        <p:tgtEl>
                                          <p:spTgt spid="27"/>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checkerboard(across)">
                                      <p:cBhvr>
                                        <p:cTn id="16" dur="500"/>
                                        <p:tgtEl>
                                          <p:spTgt spid="9"/>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checkerboard(across)">
                                      <p:cBhvr>
                                        <p:cTn id="19" dur="500"/>
                                        <p:tgtEl>
                                          <p:spTgt spid="29"/>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heckerboard(across)">
                                      <p:cBhvr>
                                        <p:cTn id="22" dur="500"/>
                                        <p:tgtEl>
                                          <p:spTgt spid="6"/>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checkerboard(across)">
                                      <p:cBhvr>
                                        <p:cTn id="25" dur="500"/>
                                        <p:tgtEl>
                                          <p:spTgt spid="5"/>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checkerboard(across)">
                                      <p:cBhvr>
                                        <p:cTn id="28" dur="500"/>
                                        <p:tgtEl>
                                          <p:spTgt spid="4"/>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checkerboard(across)">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7" grpId="0" animBg="1"/>
      <p:bldP spid="24" grpId="0" animBg="1"/>
      <p:bldP spid="28" grpId="0" animBg="1"/>
      <p:bldP spid="9" grpId="0" animBg="1"/>
      <p:bldP spid="3" grpId="0" animBg="1"/>
      <p:bldP spid="4" grpId="0" animBg="1"/>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5443" y="229371"/>
            <a:ext cx="7549592" cy="781699"/>
          </a:xfrm>
        </p:spPr>
        <p:txBody>
          <a:bodyPr anchor="b">
            <a:normAutofit/>
          </a:bodyPr>
          <a:lstStyle/>
          <a:p>
            <a:r>
              <a:rPr lang="en-US" sz="4200" b="1" dirty="0"/>
              <a:t>Why Water</a:t>
            </a:r>
            <a:r>
              <a:rPr lang="en-US" altLang="zh-CN" sz="4200" b="1" dirty="0"/>
              <a:t> F</a:t>
            </a:r>
            <a:r>
              <a:rPr lang="en-US" sz="4200" b="1" dirty="0"/>
              <a:t>illing Fails in LTE/5G</a:t>
            </a:r>
          </a:p>
        </p:txBody>
      </p:sp>
      <p:cxnSp>
        <p:nvCxnSpPr>
          <p:cNvPr id="7" name="Straight Arrow Connector 6">
            <a:extLst>
              <a:ext uri="{FF2B5EF4-FFF2-40B4-BE49-F238E27FC236}">
                <a16:creationId xmlns:a16="http://schemas.microsoft.com/office/drawing/2014/main" id="{9DB6560D-F798-400A-833A-FD3A8521BF97}"/>
              </a:ext>
            </a:extLst>
          </p:cNvPr>
          <p:cNvCxnSpPr>
            <a:cxnSpLocks/>
          </p:cNvCxnSpPr>
          <p:nvPr/>
        </p:nvCxnSpPr>
        <p:spPr>
          <a:xfrm flipV="1">
            <a:off x="3344243" y="5975496"/>
            <a:ext cx="5193278" cy="1016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16292492-5023-7041-16A6-5F14A49F93C9}"/>
              </a:ext>
            </a:extLst>
          </p:cNvPr>
          <p:cNvCxnSpPr>
            <a:cxnSpLocks/>
          </p:cNvCxnSpPr>
          <p:nvPr/>
        </p:nvCxnSpPr>
        <p:spPr>
          <a:xfrm flipV="1">
            <a:off x="3344243" y="3333177"/>
            <a:ext cx="0" cy="265248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40151100-A937-EB39-579B-4B0BD7172193}"/>
              </a:ext>
            </a:extLst>
          </p:cNvPr>
          <p:cNvSpPr txBox="1"/>
          <p:nvPr/>
        </p:nvSpPr>
        <p:spPr>
          <a:xfrm>
            <a:off x="2073824" y="4762389"/>
            <a:ext cx="1242200" cy="369332"/>
          </a:xfrm>
          <a:prstGeom prst="rect">
            <a:avLst/>
          </a:prstGeom>
          <a:noFill/>
        </p:spPr>
        <p:txBody>
          <a:bodyPr wrap="square" rtlCol="0">
            <a:spAutoFit/>
          </a:bodyPr>
          <a:lstStyle/>
          <a:p>
            <a:r>
              <a:rPr lang="en-US" dirty="0"/>
              <a:t>Single MCS</a:t>
            </a:r>
          </a:p>
        </p:txBody>
      </p:sp>
      <p:sp>
        <p:nvSpPr>
          <p:cNvPr id="39" name="TextBox 38">
            <a:extLst>
              <a:ext uri="{FF2B5EF4-FFF2-40B4-BE49-F238E27FC236}">
                <a16:creationId xmlns:a16="http://schemas.microsoft.com/office/drawing/2014/main" id="{EA3B4D31-02D6-F6C5-C9D7-0C9BCEA6AAB3}"/>
              </a:ext>
            </a:extLst>
          </p:cNvPr>
          <p:cNvSpPr txBox="1"/>
          <p:nvPr/>
        </p:nvSpPr>
        <p:spPr>
          <a:xfrm>
            <a:off x="5208175" y="5987873"/>
            <a:ext cx="1713535" cy="461665"/>
          </a:xfrm>
          <a:prstGeom prst="rect">
            <a:avLst/>
          </a:prstGeom>
          <a:noFill/>
        </p:spPr>
        <p:txBody>
          <a:bodyPr wrap="square" rtlCol="0">
            <a:spAutoFit/>
          </a:bodyPr>
          <a:lstStyle/>
          <a:p>
            <a:r>
              <a:rPr lang="en-US" sz="2400" dirty="0"/>
              <a:t>Subcarriers</a:t>
            </a:r>
          </a:p>
        </p:txBody>
      </p:sp>
      <p:sp>
        <p:nvSpPr>
          <p:cNvPr id="40" name="TextBox 39">
            <a:extLst>
              <a:ext uri="{FF2B5EF4-FFF2-40B4-BE49-F238E27FC236}">
                <a16:creationId xmlns:a16="http://schemas.microsoft.com/office/drawing/2014/main" id="{1B9ABBA5-3658-9282-D0D4-38CB21F287CF}"/>
              </a:ext>
            </a:extLst>
          </p:cNvPr>
          <p:cNvSpPr txBox="1"/>
          <p:nvPr/>
        </p:nvSpPr>
        <p:spPr>
          <a:xfrm>
            <a:off x="2981456" y="2964571"/>
            <a:ext cx="696155" cy="461665"/>
          </a:xfrm>
          <a:prstGeom prst="rect">
            <a:avLst/>
          </a:prstGeom>
          <a:noFill/>
        </p:spPr>
        <p:txBody>
          <a:bodyPr wrap="square" rtlCol="0">
            <a:spAutoFit/>
          </a:bodyPr>
          <a:lstStyle/>
          <a:p>
            <a:r>
              <a:rPr lang="en-US" sz="2400" dirty="0"/>
              <a:t>SNR</a:t>
            </a:r>
            <a:endParaRPr lang="en-US" dirty="0"/>
          </a:p>
        </p:txBody>
      </p:sp>
      <p:sp>
        <p:nvSpPr>
          <p:cNvPr id="34" name="Freeform 33">
            <a:extLst>
              <a:ext uri="{FF2B5EF4-FFF2-40B4-BE49-F238E27FC236}">
                <a16:creationId xmlns:a16="http://schemas.microsoft.com/office/drawing/2014/main" id="{824296AE-AEE9-145D-A113-194903C27448}"/>
              </a:ext>
            </a:extLst>
          </p:cNvPr>
          <p:cNvSpPr/>
          <p:nvPr/>
        </p:nvSpPr>
        <p:spPr>
          <a:xfrm>
            <a:off x="257825" y="2783412"/>
            <a:ext cx="6172837" cy="2177538"/>
          </a:xfrm>
          <a:custGeom>
            <a:avLst/>
            <a:gdLst>
              <a:gd name="csX0" fmla="*/ 978399 w 6172837"/>
              <a:gd name="csY0" fmla="*/ 0 h 2177538"/>
              <a:gd name="csX1" fmla="*/ 5772126 w 6172837"/>
              <a:gd name="csY1" fmla="*/ 0 h 2177538"/>
              <a:gd name="csX2" fmla="*/ 6083790 w 6172837"/>
              <a:gd name="csY2" fmla="*/ 311664 h 2177538"/>
              <a:gd name="csX3" fmla="*/ 6083790 w 6172837"/>
              <a:gd name="csY3" fmla="*/ 356188 h 2177538"/>
              <a:gd name="csX4" fmla="*/ 6172837 w 6172837"/>
              <a:gd name="csY4" fmla="*/ 356188 h 2177538"/>
              <a:gd name="csX5" fmla="*/ 5994743 w 6172837"/>
              <a:gd name="csY5" fmla="*/ 534281 h 2177538"/>
              <a:gd name="csX6" fmla="*/ 5816650 w 6172837"/>
              <a:gd name="csY6" fmla="*/ 356188 h 2177538"/>
              <a:gd name="csX7" fmla="*/ 5905696 w 6172837"/>
              <a:gd name="csY7" fmla="*/ 356188 h 2177538"/>
              <a:gd name="csX8" fmla="*/ 5905696 w 6172837"/>
              <a:gd name="csY8" fmla="*/ 311664 h 2177538"/>
              <a:gd name="csX9" fmla="*/ 5772126 w 6172837"/>
              <a:gd name="csY9" fmla="*/ 178094 h 2177538"/>
              <a:gd name="csX10" fmla="*/ 978399 w 6172837"/>
              <a:gd name="csY10" fmla="*/ 178094 h 2177538"/>
              <a:gd name="csX11" fmla="*/ 844829 w 6172837"/>
              <a:gd name="csY11" fmla="*/ 311664 h 2177538"/>
              <a:gd name="csX12" fmla="*/ 844829 w 6172837"/>
              <a:gd name="csY12" fmla="*/ 712375 h 2177538"/>
              <a:gd name="csX13" fmla="*/ 1432560 w 6172837"/>
              <a:gd name="csY13" fmla="*/ 712375 h 2177538"/>
              <a:gd name="csX14" fmla="*/ 1432560 w 6172837"/>
              <a:gd name="csY14" fmla="*/ 2177538 h 2177538"/>
              <a:gd name="csX15" fmla="*/ 0 w 6172837"/>
              <a:gd name="csY15" fmla="*/ 2177538 h 2177538"/>
              <a:gd name="csX16" fmla="*/ 0 w 6172837"/>
              <a:gd name="csY16" fmla="*/ 712375 h 2177538"/>
              <a:gd name="csX17" fmla="*/ 666735 w 6172837"/>
              <a:gd name="csY17" fmla="*/ 712375 h 2177538"/>
              <a:gd name="csX18" fmla="*/ 666735 w 6172837"/>
              <a:gd name="csY18" fmla="*/ 311664 h 2177538"/>
              <a:gd name="csX19" fmla="*/ 978399 w 6172837"/>
              <a:gd name="csY19" fmla="*/ 0 h 2177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172837" h="2177538">
                <a:moveTo>
                  <a:pt x="978399" y="0"/>
                </a:moveTo>
                <a:lnTo>
                  <a:pt x="5772126" y="0"/>
                </a:lnTo>
                <a:cubicBezTo>
                  <a:pt x="5944253" y="0"/>
                  <a:pt x="6083790" y="139537"/>
                  <a:pt x="6083790" y="311664"/>
                </a:cubicBezTo>
                <a:lnTo>
                  <a:pt x="6083790" y="356188"/>
                </a:lnTo>
                <a:lnTo>
                  <a:pt x="6172837" y="356188"/>
                </a:lnTo>
                <a:lnTo>
                  <a:pt x="5994743" y="534281"/>
                </a:lnTo>
                <a:lnTo>
                  <a:pt x="5816650" y="356188"/>
                </a:lnTo>
                <a:lnTo>
                  <a:pt x="5905696" y="356188"/>
                </a:lnTo>
                <a:lnTo>
                  <a:pt x="5905696" y="311664"/>
                </a:lnTo>
                <a:cubicBezTo>
                  <a:pt x="5905696" y="237895"/>
                  <a:pt x="5845895" y="178094"/>
                  <a:pt x="5772126" y="178094"/>
                </a:cubicBezTo>
                <a:lnTo>
                  <a:pt x="978399" y="178094"/>
                </a:lnTo>
                <a:cubicBezTo>
                  <a:pt x="904630" y="178094"/>
                  <a:pt x="844829" y="237895"/>
                  <a:pt x="844829" y="311664"/>
                </a:cubicBezTo>
                <a:lnTo>
                  <a:pt x="844829" y="712375"/>
                </a:lnTo>
                <a:lnTo>
                  <a:pt x="1432560" y="712375"/>
                </a:lnTo>
                <a:lnTo>
                  <a:pt x="1432560" y="2177538"/>
                </a:lnTo>
                <a:lnTo>
                  <a:pt x="0" y="2177538"/>
                </a:lnTo>
                <a:lnTo>
                  <a:pt x="0" y="712375"/>
                </a:lnTo>
                <a:lnTo>
                  <a:pt x="666735" y="712375"/>
                </a:lnTo>
                <a:lnTo>
                  <a:pt x="666735" y="311664"/>
                </a:lnTo>
                <a:cubicBezTo>
                  <a:pt x="666735" y="139537"/>
                  <a:pt x="806272" y="0"/>
                  <a:pt x="978399" y="0"/>
                </a:cubicBezTo>
                <a:close/>
              </a:path>
            </a:pathLst>
          </a:cu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a:ln>
            <a:noFill/>
            <a:extLst>
              <a:ext uri="{C807C97D-BFC1-408E-A445-0C87EB9F89A2}">
                <ask:lineSketchStyleProps xmlns:ask="http://schemas.microsoft.com/office/drawing/2018/sketchyshapes" sd="1219033472">
                  <a:custGeom>
                    <a:avLst/>
                    <a:gdLst>
                      <a:gd name="csX0" fmla="*/ 0 w 5686452"/>
                      <a:gd name="csY0" fmla="*/ 712375 h 712375"/>
                      <a:gd name="csX1" fmla="*/ 0 w 5686452"/>
                      <a:gd name="csY1" fmla="*/ 311664 h 712375"/>
                      <a:gd name="csX2" fmla="*/ 311664 w 5686452"/>
                      <a:gd name="csY2" fmla="*/ 0 h 712375"/>
                      <a:gd name="csX3" fmla="*/ 5285741 w 5686452"/>
                      <a:gd name="csY3" fmla="*/ 0 h 712375"/>
                      <a:gd name="csX4" fmla="*/ 5597405 w 5686452"/>
                      <a:gd name="csY4" fmla="*/ 311664 h 712375"/>
                      <a:gd name="csX5" fmla="*/ 5597405 w 5686452"/>
                      <a:gd name="csY5" fmla="*/ 356188 h 712375"/>
                      <a:gd name="csX6" fmla="*/ 5686452 w 5686452"/>
                      <a:gd name="csY6" fmla="*/ 356188 h 712375"/>
                      <a:gd name="csX7" fmla="*/ 5508358 w 5686452"/>
                      <a:gd name="csY7" fmla="*/ 534281 h 712375"/>
                      <a:gd name="csX8" fmla="*/ 5330265 w 5686452"/>
                      <a:gd name="csY8" fmla="*/ 356188 h 712375"/>
                      <a:gd name="csX9" fmla="*/ 5419311 w 5686452"/>
                      <a:gd name="csY9" fmla="*/ 356188 h 712375"/>
                      <a:gd name="csX10" fmla="*/ 5419311 w 5686452"/>
                      <a:gd name="csY10" fmla="*/ 311664 h 712375"/>
                      <a:gd name="csX11" fmla="*/ 5285741 w 5686452"/>
                      <a:gd name="csY11" fmla="*/ 178094 h 712375"/>
                      <a:gd name="csX12" fmla="*/ 311664 w 5686452"/>
                      <a:gd name="csY12" fmla="*/ 178094 h 712375"/>
                      <a:gd name="csX13" fmla="*/ 178094 w 5686452"/>
                      <a:gd name="csY13" fmla="*/ 311664 h 712375"/>
                      <a:gd name="csX14" fmla="*/ 178094 w 5686452"/>
                      <a:gd name="csY14" fmla="*/ 712375 h 712375"/>
                      <a:gd name="csX15" fmla="*/ 0 w 5686452"/>
                      <a:gd name="csY15" fmla="*/ 712375 h 7123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686452" h="712375" fill="none" extrusionOk="0">
                        <a:moveTo>
                          <a:pt x="0" y="712375"/>
                        </a:moveTo>
                        <a:cubicBezTo>
                          <a:pt x="-1379" y="587282"/>
                          <a:pt x="-30714" y="379695"/>
                          <a:pt x="0" y="311664"/>
                        </a:cubicBezTo>
                        <a:cubicBezTo>
                          <a:pt x="-833" y="159329"/>
                          <a:pt x="153636" y="-8363"/>
                          <a:pt x="311664" y="0"/>
                        </a:cubicBezTo>
                        <a:cubicBezTo>
                          <a:pt x="1288266" y="13947"/>
                          <a:pt x="3601022" y="-51733"/>
                          <a:pt x="5285741" y="0"/>
                        </a:cubicBezTo>
                        <a:cubicBezTo>
                          <a:pt x="5467340" y="18755"/>
                          <a:pt x="5595551" y="140515"/>
                          <a:pt x="5597405" y="311664"/>
                        </a:cubicBezTo>
                        <a:cubicBezTo>
                          <a:pt x="5594902" y="333827"/>
                          <a:pt x="5601353" y="343795"/>
                          <a:pt x="5597405" y="356188"/>
                        </a:cubicBezTo>
                        <a:cubicBezTo>
                          <a:pt x="5624586" y="362738"/>
                          <a:pt x="5659126" y="349090"/>
                          <a:pt x="5686452" y="356188"/>
                        </a:cubicBezTo>
                        <a:cubicBezTo>
                          <a:pt x="5650334" y="400363"/>
                          <a:pt x="5533448" y="512375"/>
                          <a:pt x="5508358" y="534281"/>
                        </a:cubicBezTo>
                        <a:cubicBezTo>
                          <a:pt x="5455828" y="451359"/>
                          <a:pt x="5376494" y="423325"/>
                          <a:pt x="5330265" y="356188"/>
                        </a:cubicBezTo>
                        <a:cubicBezTo>
                          <a:pt x="5365192" y="355260"/>
                          <a:pt x="5399252" y="354494"/>
                          <a:pt x="5419311" y="356188"/>
                        </a:cubicBezTo>
                        <a:cubicBezTo>
                          <a:pt x="5417730" y="346936"/>
                          <a:pt x="5420936" y="330725"/>
                          <a:pt x="5419311" y="311664"/>
                        </a:cubicBezTo>
                        <a:cubicBezTo>
                          <a:pt x="5421799" y="236026"/>
                          <a:pt x="5363141" y="171790"/>
                          <a:pt x="5285741" y="178094"/>
                        </a:cubicBezTo>
                        <a:cubicBezTo>
                          <a:pt x="4735383" y="197663"/>
                          <a:pt x="851310" y="310216"/>
                          <a:pt x="311664" y="178094"/>
                        </a:cubicBezTo>
                        <a:cubicBezTo>
                          <a:pt x="227055" y="184172"/>
                          <a:pt x="181763" y="247835"/>
                          <a:pt x="178094" y="311664"/>
                        </a:cubicBezTo>
                        <a:cubicBezTo>
                          <a:pt x="152909" y="423058"/>
                          <a:pt x="173082" y="662699"/>
                          <a:pt x="178094" y="712375"/>
                        </a:cubicBezTo>
                        <a:cubicBezTo>
                          <a:pt x="135594" y="713229"/>
                          <a:pt x="35748" y="716435"/>
                          <a:pt x="0" y="712375"/>
                        </a:cubicBezTo>
                        <a:close/>
                      </a:path>
                      <a:path w="5686452" h="712375" stroke="0" extrusionOk="0">
                        <a:moveTo>
                          <a:pt x="0" y="712375"/>
                        </a:moveTo>
                        <a:cubicBezTo>
                          <a:pt x="-29345" y="523230"/>
                          <a:pt x="-25539" y="435933"/>
                          <a:pt x="0" y="311664"/>
                        </a:cubicBezTo>
                        <a:cubicBezTo>
                          <a:pt x="20281" y="143807"/>
                          <a:pt x="114612" y="793"/>
                          <a:pt x="311664" y="0"/>
                        </a:cubicBezTo>
                        <a:cubicBezTo>
                          <a:pt x="2463217" y="-134600"/>
                          <a:pt x="3447273" y="157196"/>
                          <a:pt x="5285741" y="0"/>
                        </a:cubicBezTo>
                        <a:cubicBezTo>
                          <a:pt x="5431703" y="-14316"/>
                          <a:pt x="5599325" y="140454"/>
                          <a:pt x="5597405" y="311664"/>
                        </a:cubicBezTo>
                        <a:cubicBezTo>
                          <a:pt x="5596379" y="333640"/>
                          <a:pt x="5597174" y="343769"/>
                          <a:pt x="5597405" y="356188"/>
                        </a:cubicBezTo>
                        <a:cubicBezTo>
                          <a:pt x="5609598" y="352697"/>
                          <a:pt x="5677154" y="350073"/>
                          <a:pt x="5686452" y="356188"/>
                        </a:cubicBezTo>
                        <a:cubicBezTo>
                          <a:pt x="5611177" y="445568"/>
                          <a:pt x="5576639" y="485892"/>
                          <a:pt x="5508358" y="534281"/>
                        </a:cubicBezTo>
                        <a:cubicBezTo>
                          <a:pt x="5486763" y="484828"/>
                          <a:pt x="5416085" y="424888"/>
                          <a:pt x="5330265" y="356188"/>
                        </a:cubicBezTo>
                        <a:cubicBezTo>
                          <a:pt x="5362974" y="360418"/>
                          <a:pt x="5400928" y="357015"/>
                          <a:pt x="5419311" y="356188"/>
                        </a:cubicBezTo>
                        <a:cubicBezTo>
                          <a:pt x="5417075" y="349042"/>
                          <a:pt x="5421083" y="321742"/>
                          <a:pt x="5419311" y="311664"/>
                        </a:cubicBezTo>
                        <a:cubicBezTo>
                          <a:pt x="5419859" y="238739"/>
                          <a:pt x="5364651" y="184391"/>
                          <a:pt x="5285741" y="178094"/>
                        </a:cubicBezTo>
                        <a:cubicBezTo>
                          <a:pt x="3995231" y="27655"/>
                          <a:pt x="2408330" y="263973"/>
                          <a:pt x="311664" y="178094"/>
                        </a:cubicBezTo>
                        <a:cubicBezTo>
                          <a:pt x="232864" y="178920"/>
                          <a:pt x="171481" y="233332"/>
                          <a:pt x="178094" y="311664"/>
                        </a:cubicBezTo>
                        <a:cubicBezTo>
                          <a:pt x="142403" y="354874"/>
                          <a:pt x="152835" y="519039"/>
                          <a:pt x="178094" y="712375"/>
                        </a:cubicBezTo>
                        <a:cubicBezTo>
                          <a:pt x="135362" y="714683"/>
                          <a:pt x="62039" y="711244"/>
                          <a:pt x="0" y="712375"/>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4" name="Rectangle 3">
            <a:extLst>
              <a:ext uri="{FF2B5EF4-FFF2-40B4-BE49-F238E27FC236}">
                <a16:creationId xmlns:a16="http://schemas.microsoft.com/office/drawing/2014/main" id="{34C20B80-72C3-885C-13B4-C0E3621D82DE}"/>
              </a:ext>
            </a:extLst>
          </p:cNvPr>
          <p:cNvSpPr/>
          <p:nvPr/>
        </p:nvSpPr>
        <p:spPr>
          <a:xfrm>
            <a:off x="7548950" y="4929382"/>
            <a:ext cx="593386" cy="1015302"/>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5E1AFE6-1C90-ED9C-F3DD-A931E4FEE536}"/>
              </a:ext>
            </a:extLst>
          </p:cNvPr>
          <p:cNvSpPr/>
          <p:nvPr/>
        </p:nvSpPr>
        <p:spPr>
          <a:xfrm>
            <a:off x="3584934" y="4939542"/>
            <a:ext cx="593386" cy="101827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094B57D-C3A0-3E82-1C94-31ECEA03B6FC}"/>
              </a:ext>
            </a:extLst>
          </p:cNvPr>
          <p:cNvSpPr/>
          <p:nvPr/>
        </p:nvSpPr>
        <p:spPr>
          <a:xfrm>
            <a:off x="5170541" y="4774178"/>
            <a:ext cx="593386" cy="1183639"/>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2A9ABAF-3BEB-D7BC-FAAE-67FD4EDCDEF3}"/>
              </a:ext>
            </a:extLst>
          </p:cNvPr>
          <p:cNvSpPr/>
          <p:nvPr/>
        </p:nvSpPr>
        <p:spPr>
          <a:xfrm>
            <a:off x="4394143" y="5811403"/>
            <a:ext cx="593386" cy="146414"/>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252D2D6-E81C-1C28-4796-C8943BAF5BEF}"/>
              </a:ext>
            </a:extLst>
          </p:cNvPr>
          <p:cNvSpPr/>
          <p:nvPr/>
        </p:nvSpPr>
        <p:spPr>
          <a:xfrm>
            <a:off x="5963344" y="5504167"/>
            <a:ext cx="593386" cy="453649"/>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EFAA516-D32F-543C-2170-10CE3A75B0F9}"/>
              </a:ext>
            </a:extLst>
          </p:cNvPr>
          <p:cNvSpPr/>
          <p:nvPr/>
        </p:nvSpPr>
        <p:spPr>
          <a:xfrm>
            <a:off x="6756147" y="3700724"/>
            <a:ext cx="593386" cy="224772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20A904B-9282-9324-A7BF-BA879795D1A5}"/>
              </a:ext>
            </a:extLst>
          </p:cNvPr>
          <p:cNvSpPr/>
          <p:nvPr/>
        </p:nvSpPr>
        <p:spPr>
          <a:xfrm rot="10800000">
            <a:off x="7548949" y="3785830"/>
            <a:ext cx="593386" cy="1141336"/>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7A20A65E-B3E5-6282-8D0C-8F1FF089D0D2}"/>
              </a:ext>
            </a:extLst>
          </p:cNvPr>
          <p:cNvSpPr/>
          <p:nvPr/>
        </p:nvSpPr>
        <p:spPr>
          <a:xfrm rot="10800000">
            <a:off x="5963344" y="4676138"/>
            <a:ext cx="593386" cy="817994"/>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5EBC0D3-4B74-F2DF-6AFE-3131A9CADBAF}"/>
              </a:ext>
            </a:extLst>
          </p:cNvPr>
          <p:cNvSpPr/>
          <p:nvPr/>
        </p:nvSpPr>
        <p:spPr>
          <a:xfrm rot="10800000">
            <a:off x="5170540" y="3358445"/>
            <a:ext cx="593386" cy="1414625"/>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162E6B5D-B12F-5A76-0004-ACC57180C138}"/>
              </a:ext>
            </a:extLst>
          </p:cNvPr>
          <p:cNvSpPr/>
          <p:nvPr/>
        </p:nvSpPr>
        <p:spPr>
          <a:xfrm rot="10800000">
            <a:off x="3584934" y="3829611"/>
            <a:ext cx="593386" cy="1101091"/>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739FEEB-619F-9DE7-0B9D-EA38EE7CA530}"/>
              </a:ext>
            </a:extLst>
          </p:cNvPr>
          <p:cNvSpPr/>
          <p:nvPr/>
        </p:nvSpPr>
        <p:spPr>
          <a:xfrm rot="10800000">
            <a:off x="6756147" y="1600200"/>
            <a:ext cx="593386" cy="2096600"/>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31" name="Straight Connector 30">
            <a:extLst>
              <a:ext uri="{FF2B5EF4-FFF2-40B4-BE49-F238E27FC236}">
                <a16:creationId xmlns:a16="http://schemas.microsoft.com/office/drawing/2014/main" id="{66D2DDCD-4847-D9C8-E7D9-59000D3A1499}"/>
              </a:ext>
            </a:extLst>
          </p:cNvPr>
          <p:cNvCxnSpPr>
            <a:cxnSpLocks/>
          </p:cNvCxnSpPr>
          <p:nvPr/>
        </p:nvCxnSpPr>
        <p:spPr>
          <a:xfrm flipV="1">
            <a:off x="2423725" y="5134666"/>
            <a:ext cx="6113796" cy="29468"/>
          </a:xfrm>
          <a:prstGeom prst="line">
            <a:avLst/>
          </a:prstGeom>
          <a:ln>
            <a:solidFill>
              <a:srgbClr val="FFFF00"/>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0A4A6D50-45A0-DED4-C084-AB48ED7F092B}"/>
              </a:ext>
            </a:extLst>
          </p:cNvPr>
          <p:cNvSpPr txBox="1"/>
          <p:nvPr/>
        </p:nvSpPr>
        <p:spPr>
          <a:xfrm>
            <a:off x="410303" y="3872181"/>
            <a:ext cx="1148917" cy="984885"/>
          </a:xfrm>
          <a:prstGeom prst="rect">
            <a:avLst/>
          </a:prstGeom>
          <a:noFill/>
        </p:spPr>
        <p:txBody>
          <a:bodyPr wrap="square" rtlCol="0">
            <a:spAutoFit/>
          </a:bodyPr>
          <a:lstStyle/>
          <a:p>
            <a:pPr algn="ctr"/>
            <a:r>
              <a:rPr lang="en-US" sz="2000" dirty="0">
                <a:ln w="0"/>
                <a:effectLst>
                  <a:outerShdw blurRad="38100" dist="19050" dir="2700000" algn="tl" rotWithShape="0">
                    <a:schemeClr val="dk1">
                      <a:alpha val="40000"/>
                    </a:schemeClr>
                  </a:outerShdw>
                </a:effectLst>
              </a:rPr>
              <a:t>Available Power</a:t>
            </a:r>
          </a:p>
          <a:p>
            <a:endParaRPr lang="en-US" dirty="0"/>
          </a:p>
        </p:txBody>
      </p:sp>
      <p:sp>
        <p:nvSpPr>
          <p:cNvPr id="36" name="TextBox 35">
            <a:extLst>
              <a:ext uri="{FF2B5EF4-FFF2-40B4-BE49-F238E27FC236}">
                <a16:creationId xmlns:a16="http://schemas.microsoft.com/office/drawing/2014/main" id="{91BCE57B-7984-E3F7-F976-9201CE1CEC67}"/>
              </a:ext>
            </a:extLst>
          </p:cNvPr>
          <p:cNvSpPr txBox="1"/>
          <p:nvPr/>
        </p:nvSpPr>
        <p:spPr>
          <a:xfrm>
            <a:off x="3486271" y="3451439"/>
            <a:ext cx="789938" cy="369332"/>
          </a:xfrm>
          <a:prstGeom prst="rect">
            <a:avLst/>
          </a:prstGeom>
          <a:noFill/>
        </p:spPr>
        <p:txBody>
          <a:bodyPr wrap="square" rtlCol="0">
            <a:spAutoFit/>
          </a:bodyPr>
          <a:lstStyle/>
          <a:p>
            <a:r>
              <a:rPr lang="en-US" dirty="0"/>
              <a:t>MCS 7</a:t>
            </a:r>
          </a:p>
        </p:txBody>
      </p:sp>
      <p:sp>
        <p:nvSpPr>
          <p:cNvPr id="37" name="TextBox 36">
            <a:extLst>
              <a:ext uri="{FF2B5EF4-FFF2-40B4-BE49-F238E27FC236}">
                <a16:creationId xmlns:a16="http://schemas.microsoft.com/office/drawing/2014/main" id="{ABCC154B-AE40-BB34-9E4E-294DDFC8A9C8}"/>
              </a:ext>
            </a:extLst>
          </p:cNvPr>
          <p:cNvSpPr txBox="1"/>
          <p:nvPr/>
        </p:nvSpPr>
        <p:spPr>
          <a:xfrm>
            <a:off x="4298050" y="5507993"/>
            <a:ext cx="831218" cy="369332"/>
          </a:xfrm>
          <a:prstGeom prst="rect">
            <a:avLst/>
          </a:prstGeom>
          <a:noFill/>
        </p:spPr>
        <p:txBody>
          <a:bodyPr wrap="square" rtlCol="0">
            <a:spAutoFit/>
          </a:bodyPr>
          <a:lstStyle/>
          <a:p>
            <a:r>
              <a:rPr lang="en-US" dirty="0"/>
              <a:t>MCS 1</a:t>
            </a:r>
          </a:p>
        </p:txBody>
      </p:sp>
      <p:sp>
        <p:nvSpPr>
          <p:cNvPr id="38" name="TextBox 37">
            <a:extLst>
              <a:ext uri="{FF2B5EF4-FFF2-40B4-BE49-F238E27FC236}">
                <a16:creationId xmlns:a16="http://schemas.microsoft.com/office/drawing/2014/main" id="{1334A0BE-1CB4-87DC-BF9E-94DD044ACAE1}"/>
              </a:ext>
            </a:extLst>
          </p:cNvPr>
          <p:cNvSpPr txBox="1"/>
          <p:nvPr/>
        </p:nvSpPr>
        <p:spPr>
          <a:xfrm>
            <a:off x="5075132" y="3028446"/>
            <a:ext cx="789938" cy="369332"/>
          </a:xfrm>
          <a:prstGeom prst="rect">
            <a:avLst/>
          </a:prstGeom>
          <a:noFill/>
        </p:spPr>
        <p:txBody>
          <a:bodyPr wrap="square" rtlCol="0">
            <a:spAutoFit/>
          </a:bodyPr>
          <a:lstStyle/>
          <a:p>
            <a:r>
              <a:rPr lang="en-US" dirty="0"/>
              <a:t>MCS 8</a:t>
            </a:r>
          </a:p>
        </p:txBody>
      </p:sp>
      <p:sp>
        <p:nvSpPr>
          <p:cNvPr id="42" name="TextBox 41">
            <a:extLst>
              <a:ext uri="{FF2B5EF4-FFF2-40B4-BE49-F238E27FC236}">
                <a16:creationId xmlns:a16="http://schemas.microsoft.com/office/drawing/2014/main" id="{2F1BF57A-89A1-5BE0-656C-3798CF54E13E}"/>
              </a:ext>
            </a:extLst>
          </p:cNvPr>
          <p:cNvSpPr txBox="1"/>
          <p:nvPr/>
        </p:nvSpPr>
        <p:spPr>
          <a:xfrm>
            <a:off x="5865070" y="4340983"/>
            <a:ext cx="789938" cy="369332"/>
          </a:xfrm>
          <a:prstGeom prst="rect">
            <a:avLst/>
          </a:prstGeom>
          <a:noFill/>
        </p:spPr>
        <p:txBody>
          <a:bodyPr wrap="square" rtlCol="0">
            <a:spAutoFit/>
          </a:bodyPr>
          <a:lstStyle/>
          <a:p>
            <a:r>
              <a:rPr lang="en-US" dirty="0"/>
              <a:t>MCS 5</a:t>
            </a:r>
          </a:p>
        </p:txBody>
      </p:sp>
      <p:sp>
        <p:nvSpPr>
          <p:cNvPr id="43" name="TextBox 42">
            <a:extLst>
              <a:ext uri="{FF2B5EF4-FFF2-40B4-BE49-F238E27FC236}">
                <a16:creationId xmlns:a16="http://schemas.microsoft.com/office/drawing/2014/main" id="{D1AC099A-7F46-4018-9691-8F0325050300}"/>
              </a:ext>
            </a:extLst>
          </p:cNvPr>
          <p:cNvSpPr txBox="1"/>
          <p:nvPr/>
        </p:nvSpPr>
        <p:spPr>
          <a:xfrm>
            <a:off x="6584867" y="1256341"/>
            <a:ext cx="935945" cy="369332"/>
          </a:xfrm>
          <a:prstGeom prst="rect">
            <a:avLst/>
          </a:prstGeom>
          <a:noFill/>
        </p:spPr>
        <p:txBody>
          <a:bodyPr wrap="square" rtlCol="0">
            <a:spAutoFit/>
          </a:bodyPr>
          <a:lstStyle/>
          <a:p>
            <a:r>
              <a:rPr lang="en-US" dirty="0"/>
              <a:t>MCS 10</a:t>
            </a:r>
          </a:p>
        </p:txBody>
      </p:sp>
      <p:sp>
        <p:nvSpPr>
          <p:cNvPr id="44" name="TextBox 43">
            <a:extLst>
              <a:ext uri="{FF2B5EF4-FFF2-40B4-BE49-F238E27FC236}">
                <a16:creationId xmlns:a16="http://schemas.microsoft.com/office/drawing/2014/main" id="{C4D90C82-629C-BA32-1010-F5B1BB474F8F}"/>
              </a:ext>
            </a:extLst>
          </p:cNvPr>
          <p:cNvSpPr txBox="1"/>
          <p:nvPr/>
        </p:nvSpPr>
        <p:spPr>
          <a:xfrm>
            <a:off x="7450672" y="3460279"/>
            <a:ext cx="789938" cy="369332"/>
          </a:xfrm>
          <a:prstGeom prst="rect">
            <a:avLst/>
          </a:prstGeom>
          <a:noFill/>
        </p:spPr>
        <p:txBody>
          <a:bodyPr wrap="square" rtlCol="0">
            <a:spAutoFit/>
          </a:bodyPr>
          <a:lstStyle/>
          <a:p>
            <a:r>
              <a:rPr lang="en-US" dirty="0"/>
              <a:t>MCS 7</a:t>
            </a:r>
          </a:p>
        </p:txBody>
      </p:sp>
      <p:sp>
        <p:nvSpPr>
          <p:cNvPr id="3" name="Oval 2">
            <a:extLst>
              <a:ext uri="{FF2B5EF4-FFF2-40B4-BE49-F238E27FC236}">
                <a16:creationId xmlns:a16="http://schemas.microsoft.com/office/drawing/2014/main" id="{26DC1A19-1EF4-09C4-E2E7-A6DE720A25D0}"/>
              </a:ext>
            </a:extLst>
          </p:cNvPr>
          <p:cNvSpPr/>
          <p:nvPr/>
        </p:nvSpPr>
        <p:spPr>
          <a:xfrm rot="5400000">
            <a:off x="3847012" y="5092288"/>
            <a:ext cx="1648266" cy="877504"/>
          </a:xfrm>
          <a:prstGeom prst="ellipse">
            <a:avLst/>
          </a:prstGeom>
          <a:noFill/>
          <a:ln w="635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xit" presetSubtype="4" fill="hold" grpId="0" nodeType="clickEffect">
                                  <p:stCondLst>
                                    <p:cond delay="0"/>
                                  </p:stCondLst>
                                  <p:childTnLst>
                                    <p:anim calcmode="lin" valueType="num">
                                      <p:cBhvr additive="base">
                                        <p:cTn id="6" dur="500"/>
                                        <p:tgtEl>
                                          <p:spTgt spid="36"/>
                                        </p:tgtEl>
                                        <p:attrNameLst>
                                          <p:attrName>ppt_y</p:attrName>
                                        </p:attrNameLst>
                                      </p:cBhvr>
                                      <p:tavLst>
                                        <p:tav tm="0">
                                          <p:val>
                                            <p:strVal val="#ppt_y"/>
                                          </p:val>
                                        </p:tav>
                                        <p:tav tm="100000">
                                          <p:val>
                                            <p:strVal val="#ppt_y+#ppt_h*1.125000"/>
                                          </p:val>
                                        </p:tav>
                                      </p:tavLst>
                                    </p:anim>
                                    <p:animEffect transition="out" filter="wipe(down)">
                                      <p:cBhvr>
                                        <p:cTn id="7" dur="500"/>
                                        <p:tgtEl>
                                          <p:spTgt spid="36"/>
                                        </p:tgtEl>
                                      </p:cBhvr>
                                    </p:animEffect>
                                    <p:set>
                                      <p:cBhvr>
                                        <p:cTn id="8" dur="1" fill="hold">
                                          <p:stCondLst>
                                            <p:cond delay="499"/>
                                          </p:stCondLst>
                                        </p:cTn>
                                        <p:tgtEl>
                                          <p:spTgt spid="36"/>
                                        </p:tgtEl>
                                        <p:attrNameLst>
                                          <p:attrName>style.visibility</p:attrName>
                                        </p:attrNameLst>
                                      </p:cBhvr>
                                      <p:to>
                                        <p:strVal val="hidden"/>
                                      </p:to>
                                    </p:set>
                                  </p:childTnLst>
                                </p:cTn>
                              </p:par>
                              <p:par>
                                <p:cTn id="9" presetID="12" presetClass="exit" presetSubtype="4" fill="hold" grpId="0" nodeType="withEffect">
                                  <p:stCondLst>
                                    <p:cond delay="0"/>
                                  </p:stCondLst>
                                  <p:childTnLst>
                                    <p:anim calcmode="lin" valueType="num">
                                      <p:cBhvr additive="base">
                                        <p:cTn id="10" dur="500"/>
                                        <p:tgtEl>
                                          <p:spTgt spid="37"/>
                                        </p:tgtEl>
                                        <p:attrNameLst>
                                          <p:attrName>ppt_y</p:attrName>
                                        </p:attrNameLst>
                                      </p:cBhvr>
                                      <p:tavLst>
                                        <p:tav tm="0">
                                          <p:val>
                                            <p:strVal val="#ppt_y"/>
                                          </p:val>
                                        </p:tav>
                                        <p:tav tm="100000">
                                          <p:val>
                                            <p:strVal val="#ppt_y+#ppt_h*1.125000"/>
                                          </p:val>
                                        </p:tav>
                                      </p:tavLst>
                                    </p:anim>
                                    <p:animEffect transition="out" filter="wipe(down)">
                                      <p:cBhvr>
                                        <p:cTn id="11" dur="500"/>
                                        <p:tgtEl>
                                          <p:spTgt spid="37"/>
                                        </p:tgtEl>
                                      </p:cBhvr>
                                    </p:animEffect>
                                    <p:set>
                                      <p:cBhvr>
                                        <p:cTn id="12" dur="1" fill="hold">
                                          <p:stCondLst>
                                            <p:cond delay="499"/>
                                          </p:stCondLst>
                                        </p:cTn>
                                        <p:tgtEl>
                                          <p:spTgt spid="37"/>
                                        </p:tgtEl>
                                        <p:attrNameLst>
                                          <p:attrName>style.visibility</p:attrName>
                                        </p:attrNameLst>
                                      </p:cBhvr>
                                      <p:to>
                                        <p:strVal val="hidden"/>
                                      </p:to>
                                    </p:set>
                                  </p:childTnLst>
                                </p:cTn>
                              </p:par>
                              <p:par>
                                <p:cTn id="13" presetID="12" presetClass="exit" presetSubtype="4" fill="hold" grpId="0" nodeType="withEffect">
                                  <p:stCondLst>
                                    <p:cond delay="0"/>
                                  </p:stCondLst>
                                  <p:childTnLst>
                                    <p:anim calcmode="lin" valueType="num">
                                      <p:cBhvr additive="base">
                                        <p:cTn id="14" dur="500"/>
                                        <p:tgtEl>
                                          <p:spTgt spid="38"/>
                                        </p:tgtEl>
                                        <p:attrNameLst>
                                          <p:attrName>ppt_y</p:attrName>
                                        </p:attrNameLst>
                                      </p:cBhvr>
                                      <p:tavLst>
                                        <p:tav tm="0">
                                          <p:val>
                                            <p:strVal val="#ppt_y"/>
                                          </p:val>
                                        </p:tav>
                                        <p:tav tm="100000">
                                          <p:val>
                                            <p:strVal val="#ppt_y+#ppt_h*1.125000"/>
                                          </p:val>
                                        </p:tav>
                                      </p:tavLst>
                                    </p:anim>
                                    <p:animEffect transition="out" filter="wipe(down)">
                                      <p:cBhvr>
                                        <p:cTn id="15" dur="500"/>
                                        <p:tgtEl>
                                          <p:spTgt spid="38"/>
                                        </p:tgtEl>
                                      </p:cBhvr>
                                    </p:animEffect>
                                    <p:set>
                                      <p:cBhvr>
                                        <p:cTn id="16" dur="1" fill="hold">
                                          <p:stCondLst>
                                            <p:cond delay="499"/>
                                          </p:stCondLst>
                                        </p:cTn>
                                        <p:tgtEl>
                                          <p:spTgt spid="38"/>
                                        </p:tgtEl>
                                        <p:attrNameLst>
                                          <p:attrName>style.visibility</p:attrName>
                                        </p:attrNameLst>
                                      </p:cBhvr>
                                      <p:to>
                                        <p:strVal val="hidden"/>
                                      </p:to>
                                    </p:set>
                                  </p:childTnLst>
                                </p:cTn>
                              </p:par>
                              <p:par>
                                <p:cTn id="17" presetID="12" presetClass="exit" presetSubtype="4" fill="hold" grpId="0" nodeType="withEffect">
                                  <p:stCondLst>
                                    <p:cond delay="0"/>
                                  </p:stCondLst>
                                  <p:childTnLst>
                                    <p:anim calcmode="lin" valueType="num">
                                      <p:cBhvr additive="base">
                                        <p:cTn id="18" dur="500"/>
                                        <p:tgtEl>
                                          <p:spTgt spid="42"/>
                                        </p:tgtEl>
                                        <p:attrNameLst>
                                          <p:attrName>ppt_y</p:attrName>
                                        </p:attrNameLst>
                                      </p:cBhvr>
                                      <p:tavLst>
                                        <p:tav tm="0">
                                          <p:val>
                                            <p:strVal val="#ppt_y"/>
                                          </p:val>
                                        </p:tav>
                                        <p:tav tm="100000">
                                          <p:val>
                                            <p:strVal val="#ppt_y+#ppt_h*1.125000"/>
                                          </p:val>
                                        </p:tav>
                                      </p:tavLst>
                                    </p:anim>
                                    <p:animEffect transition="out" filter="wipe(down)">
                                      <p:cBhvr>
                                        <p:cTn id="19" dur="500"/>
                                        <p:tgtEl>
                                          <p:spTgt spid="42"/>
                                        </p:tgtEl>
                                      </p:cBhvr>
                                    </p:animEffect>
                                    <p:set>
                                      <p:cBhvr>
                                        <p:cTn id="20" dur="1" fill="hold">
                                          <p:stCondLst>
                                            <p:cond delay="499"/>
                                          </p:stCondLst>
                                        </p:cTn>
                                        <p:tgtEl>
                                          <p:spTgt spid="42"/>
                                        </p:tgtEl>
                                        <p:attrNameLst>
                                          <p:attrName>style.visibility</p:attrName>
                                        </p:attrNameLst>
                                      </p:cBhvr>
                                      <p:to>
                                        <p:strVal val="hidden"/>
                                      </p:to>
                                    </p:set>
                                  </p:childTnLst>
                                </p:cTn>
                              </p:par>
                              <p:par>
                                <p:cTn id="21" presetID="12" presetClass="exit" presetSubtype="4" fill="hold" grpId="0" nodeType="withEffect">
                                  <p:stCondLst>
                                    <p:cond delay="0"/>
                                  </p:stCondLst>
                                  <p:childTnLst>
                                    <p:anim calcmode="lin" valueType="num">
                                      <p:cBhvr additive="base">
                                        <p:cTn id="22" dur="500"/>
                                        <p:tgtEl>
                                          <p:spTgt spid="43"/>
                                        </p:tgtEl>
                                        <p:attrNameLst>
                                          <p:attrName>ppt_y</p:attrName>
                                        </p:attrNameLst>
                                      </p:cBhvr>
                                      <p:tavLst>
                                        <p:tav tm="0">
                                          <p:val>
                                            <p:strVal val="#ppt_y"/>
                                          </p:val>
                                        </p:tav>
                                        <p:tav tm="100000">
                                          <p:val>
                                            <p:strVal val="#ppt_y+#ppt_h*1.125000"/>
                                          </p:val>
                                        </p:tav>
                                      </p:tavLst>
                                    </p:anim>
                                    <p:animEffect transition="out" filter="wipe(down)">
                                      <p:cBhvr>
                                        <p:cTn id="23" dur="500"/>
                                        <p:tgtEl>
                                          <p:spTgt spid="43"/>
                                        </p:tgtEl>
                                      </p:cBhvr>
                                    </p:animEffect>
                                    <p:set>
                                      <p:cBhvr>
                                        <p:cTn id="24" dur="1" fill="hold">
                                          <p:stCondLst>
                                            <p:cond delay="499"/>
                                          </p:stCondLst>
                                        </p:cTn>
                                        <p:tgtEl>
                                          <p:spTgt spid="43"/>
                                        </p:tgtEl>
                                        <p:attrNameLst>
                                          <p:attrName>style.visibility</p:attrName>
                                        </p:attrNameLst>
                                      </p:cBhvr>
                                      <p:to>
                                        <p:strVal val="hidden"/>
                                      </p:to>
                                    </p:set>
                                  </p:childTnLst>
                                </p:cTn>
                              </p:par>
                              <p:par>
                                <p:cTn id="25" presetID="12" presetClass="exit" presetSubtype="4" fill="hold" grpId="0" nodeType="withEffect">
                                  <p:stCondLst>
                                    <p:cond delay="0"/>
                                  </p:stCondLst>
                                  <p:childTnLst>
                                    <p:anim calcmode="lin" valueType="num">
                                      <p:cBhvr additive="base">
                                        <p:cTn id="26" dur="500"/>
                                        <p:tgtEl>
                                          <p:spTgt spid="44"/>
                                        </p:tgtEl>
                                        <p:attrNameLst>
                                          <p:attrName>ppt_y</p:attrName>
                                        </p:attrNameLst>
                                      </p:cBhvr>
                                      <p:tavLst>
                                        <p:tav tm="0">
                                          <p:val>
                                            <p:strVal val="#ppt_y"/>
                                          </p:val>
                                        </p:tav>
                                        <p:tav tm="100000">
                                          <p:val>
                                            <p:strVal val="#ppt_y+#ppt_h*1.125000"/>
                                          </p:val>
                                        </p:tav>
                                      </p:tavLst>
                                    </p:anim>
                                    <p:animEffect transition="out" filter="wipe(down)">
                                      <p:cBhvr>
                                        <p:cTn id="27" dur="500"/>
                                        <p:tgtEl>
                                          <p:spTgt spid="44"/>
                                        </p:tgtEl>
                                      </p:cBhvr>
                                    </p:animEffect>
                                    <p:set>
                                      <p:cBhvr>
                                        <p:cTn id="28" dur="1" fill="hold">
                                          <p:stCondLst>
                                            <p:cond delay="499"/>
                                          </p:stCondLst>
                                        </p:cTn>
                                        <p:tgtEl>
                                          <p:spTgt spid="44"/>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ppt_x"/>
                                          </p:val>
                                        </p:tav>
                                        <p:tav tm="100000">
                                          <p:val>
                                            <p:strVal val="#ppt_x"/>
                                          </p:val>
                                        </p:tav>
                                      </p:tavLst>
                                    </p:anim>
                                    <p:anim calcmode="lin" valueType="num">
                                      <p:cBhvr additive="base">
                                        <p:cTn id="34" dur="500" fill="hold"/>
                                        <p:tgtEl>
                                          <p:spTgt spid="2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ppt_x"/>
                                          </p:val>
                                        </p:tav>
                                        <p:tav tm="100000">
                                          <p:val>
                                            <p:strVal val="#ppt_x"/>
                                          </p:val>
                                        </p:tav>
                                      </p:tavLst>
                                    </p:anim>
                                    <p:anim calcmode="lin" valueType="num">
                                      <p:cBhvr additive="base">
                                        <p:cTn id="3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dissolve">
                                      <p:cBhvr>
                                        <p:cTn id="4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6" grpId="0"/>
      <p:bldP spid="37" grpId="0"/>
      <p:bldP spid="38" grpId="0"/>
      <p:bldP spid="42" grpId="0"/>
      <p:bldP spid="43" grpId="0"/>
      <p:bldP spid="44" grpId="0"/>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What is SAPE?</a:t>
            </a:r>
          </a:p>
        </p:txBody>
      </p:sp>
      <p:sp>
        <p:nvSpPr>
          <p:cNvPr id="4" name="TextBox 3">
            <a:extLst>
              <a:ext uri="{FF2B5EF4-FFF2-40B4-BE49-F238E27FC236}">
                <a16:creationId xmlns:a16="http://schemas.microsoft.com/office/drawing/2014/main" id="{B6E2A975-8C95-C9EA-3162-F0F9004B9723}"/>
              </a:ext>
            </a:extLst>
          </p:cNvPr>
          <p:cNvSpPr txBox="1"/>
          <p:nvPr/>
        </p:nvSpPr>
        <p:spPr>
          <a:xfrm>
            <a:off x="2089609" y="3131614"/>
            <a:ext cx="1308705" cy="400110"/>
          </a:xfrm>
          <a:prstGeom prst="rect">
            <a:avLst/>
          </a:prstGeom>
          <a:noFill/>
        </p:spPr>
        <p:txBody>
          <a:bodyPr wrap="square" rtlCol="0">
            <a:spAutoFit/>
          </a:bodyPr>
          <a:lstStyle/>
          <a:p>
            <a:r>
              <a:rPr lang="en-US" sz="2000" b="1" dirty="0"/>
              <a:t>New MCS</a:t>
            </a:r>
          </a:p>
        </p:txBody>
      </p:sp>
      <p:cxnSp>
        <p:nvCxnSpPr>
          <p:cNvPr id="5" name="Straight Arrow Connector 4">
            <a:extLst>
              <a:ext uri="{FF2B5EF4-FFF2-40B4-BE49-F238E27FC236}">
                <a16:creationId xmlns:a16="http://schemas.microsoft.com/office/drawing/2014/main" id="{39E111E5-2B23-FF92-8A15-7A8270F770F5}"/>
              </a:ext>
            </a:extLst>
          </p:cNvPr>
          <p:cNvCxnSpPr>
            <a:cxnSpLocks/>
          </p:cNvCxnSpPr>
          <p:nvPr/>
        </p:nvCxnSpPr>
        <p:spPr>
          <a:xfrm flipV="1">
            <a:off x="3493522" y="5304419"/>
            <a:ext cx="5193278" cy="1016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416AB961-DDE4-82F5-9B1C-F25AF3C1ACC4}"/>
              </a:ext>
            </a:extLst>
          </p:cNvPr>
          <p:cNvCxnSpPr>
            <a:cxnSpLocks/>
          </p:cNvCxnSpPr>
          <p:nvPr/>
        </p:nvCxnSpPr>
        <p:spPr>
          <a:xfrm flipV="1">
            <a:off x="3493522" y="2662100"/>
            <a:ext cx="0" cy="265248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FE890B34-ED78-2BE5-50FE-060249F54FE5}"/>
              </a:ext>
            </a:extLst>
          </p:cNvPr>
          <p:cNvSpPr txBox="1"/>
          <p:nvPr/>
        </p:nvSpPr>
        <p:spPr>
          <a:xfrm>
            <a:off x="2031411" y="4089818"/>
            <a:ext cx="1421159" cy="400110"/>
          </a:xfrm>
          <a:prstGeom prst="rect">
            <a:avLst/>
          </a:prstGeom>
          <a:noFill/>
        </p:spPr>
        <p:txBody>
          <a:bodyPr wrap="square" rtlCol="0">
            <a:spAutoFit/>
          </a:bodyPr>
          <a:lstStyle/>
          <a:p>
            <a:r>
              <a:rPr lang="en-US" sz="2000" dirty="0"/>
              <a:t>Single MCS</a:t>
            </a:r>
          </a:p>
        </p:txBody>
      </p:sp>
      <p:sp>
        <p:nvSpPr>
          <p:cNvPr id="28" name="TextBox 27">
            <a:extLst>
              <a:ext uri="{FF2B5EF4-FFF2-40B4-BE49-F238E27FC236}">
                <a16:creationId xmlns:a16="http://schemas.microsoft.com/office/drawing/2014/main" id="{326E0243-7E6A-70E1-D72F-87D0B6D01963}"/>
              </a:ext>
            </a:extLst>
          </p:cNvPr>
          <p:cNvSpPr txBox="1"/>
          <p:nvPr/>
        </p:nvSpPr>
        <p:spPr>
          <a:xfrm>
            <a:off x="5357454" y="5316796"/>
            <a:ext cx="1713535" cy="461665"/>
          </a:xfrm>
          <a:prstGeom prst="rect">
            <a:avLst/>
          </a:prstGeom>
          <a:noFill/>
        </p:spPr>
        <p:txBody>
          <a:bodyPr wrap="square" rtlCol="0">
            <a:spAutoFit/>
          </a:bodyPr>
          <a:lstStyle/>
          <a:p>
            <a:r>
              <a:rPr lang="en-US" sz="2400" dirty="0"/>
              <a:t>Subcarriers</a:t>
            </a:r>
          </a:p>
        </p:txBody>
      </p:sp>
      <p:sp>
        <p:nvSpPr>
          <p:cNvPr id="29" name="TextBox 28">
            <a:extLst>
              <a:ext uri="{FF2B5EF4-FFF2-40B4-BE49-F238E27FC236}">
                <a16:creationId xmlns:a16="http://schemas.microsoft.com/office/drawing/2014/main" id="{CB52A126-032C-B2D6-65E8-16F94D86C6EE}"/>
              </a:ext>
            </a:extLst>
          </p:cNvPr>
          <p:cNvSpPr txBox="1"/>
          <p:nvPr/>
        </p:nvSpPr>
        <p:spPr>
          <a:xfrm>
            <a:off x="3130735" y="2293494"/>
            <a:ext cx="696155" cy="461665"/>
          </a:xfrm>
          <a:prstGeom prst="rect">
            <a:avLst/>
          </a:prstGeom>
          <a:noFill/>
        </p:spPr>
        <p:txBody>
          <a:bodyPr wrap="square" rtlCol="0">
            <a:spAutoFit/>
          </a:bodyPr>
          <a:lstStyle/>
          <a:p>
            <a:r>
              <a:rPr lang="en-US" sz="2400" dirty="0"/>
              <a:t>SNR</a:t>
            </a:r>
            <a:endParaRPr lang="en-US" dirty="0"/>
          </a:p>
        </p:txBody>
      </p:sp>
      <p:sp>
        <p:nvSpPr>
          <p:cNvPr id="51" name="Freeform 50">
            <a:extLst>
              <a:ext uri="{FF2B5EF4-FFF2-40B4-BE49-F238E27FC236}">
                <a16:creationId xmlns:a16="http://schemas.microsoft.com/office/drawing/2014/main" id="{080D8945-0AAF-C9C6-587D-4EB51E4760B9}"/>
              </a:ext>
            </a:extLst>
          </p:cNvPr>
          <p:cNvSpPr/>
          <p:nvPr/>
        </p:nvSpPr>
        <p:spPr>
          <a:xfrm>
            <a:off x="407104" y="2112335"/>
            <a:ext cx="6172837" cy="2177538"/>
          </a:xfrm>
          <a:custGeom>
            <a:avLst/>
            <a:gdLst>
              <a:gd name="csX0" fmla="*/ 978399 w 6172837"/>
              <a:gd name="csY0" fmla="*/ 0 h 2177538"/>
              <a:gd name="csX1" fmla="*/ 5772126 w 6172837"/>
              <a:gd name="csY1" fmla="*/ 0 h 2177538"/>
              <a:gd name="csX2" fmla="*/ 6083790 w 6172837"/>
              <a:gd name="csY2" fmla="*/ 311664 h 2177538"/>
              <a:gd name="csX3" fmla="*/ 6083790 w 6172837"/>
              <a:gd name="csY3" fmla="*/ 356188 h 2177538"/>
              <a:gd name="csX4" fmla="*/ 6172837 w 6172837"/>
              <a:gd name="csY4" fmla="*/ 356188 h 2177538"/>
              <a:gd name="csX5" fmla="*/ 5994743 w 6172837"/>
              <a:gd name="csY5" fmla="*/ 534281 h 2177538"/>
              <a:gd name="csX6" fmla="*/ 5816650 w 6172837"/>
              <a:gd name="csY6" fmla="*/ 356188 h 2177538"/>
              <a:gd name="csX7" fmla="*/ 5905696 w 6172837"/>
              <a:gd name="csY7" fmla="*/ 356188 h 2177538"/>
              <a:gd name="csX8" fmla="*/ 5905696 w 6172837"/>
              <a:gd name="csY8" fmla="*/ 311664 h 2177538"/>
              <a:gd name="csX9" fmla="*/ 5772126 w 6172837"/>
              <a:gd name="csY9" fmla="*/ 178094 h 2177538"/>
              <a:gd name="csX10" fmla="*/ 978399 w 6172837"/>
              <a:gd name="csY10" fmla="*/ 178094 h 2177538"/>
              <a:gd name="csX11" fmla="*/ 844829 w 6172837"/>
              <a:gd name="csY11" fmla="*/ 311664 h 2177538"/>
              <a:gd name="csX12" fmla="*/ 844829 w 6172837"/>
              <a:gd name="csY12" fmla="*/ 712375 h 2177538"/>
              <a:gd name="csX13" fmla="*/ 1432560 w 6172837"/>
              <a:gd name="csY13" fmla="*/ 712375 h 2177538"/>
              <a:gd name="csX14" fmla="*/ 1432560 w 6172837"/>
              <a:gd name="csY14" fmla="*/ 2177538 h 2177538"/>
              <a:gd name="csX15" fmla="*/ 0 w 6172837"/>
              <a:gd name="csY15" fmla="*/ 2177538 h 2177538"/>
              <a:gd name="csX16" fmla="*/ 0 w 6172837"/>
              <a:gd name="csY16" fmla="*/ 712375 h 2177538"/>
              <a:gd name="csX17" fmla="*/ 666735 w 6172837"/>
              <a:gd name="csY17" fmla="*/ 712375 h 2177538"/>
              <a:gd name="csX18" fmla="*/ 666735 w 6172837"/>
              <a:gd name="csY18" fmla="*/ 311664 h 2177538"/>
              <a:gd name="csX19" fmla="*/ 978399 w 6172837"/>
              <a:gd name="csY19" fmla="*/ 0 h 2177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172837" h="2177538">
                <a:moveTo>
                  <a:pt x="978399" y="0"/>
                </a:moveTo>
                <a:lnTo>
                  <a:pt x="5772126" y="0"/>
                </a:lnTo>
                <a:cubicBezTo>
                  <a:pt x="5944253" y="0"/>
                  <a:pt x="6083790" y="139537"/>
                  <a:pt x="6083790" y="311664"/>
                </a:cubicBezTo>
                <a:lnTo>
                  <a:pt x="6083790" y="356188"/>
                </a:lnTo>
                <a:lnTo>
                  <a:pt x="6172837" y="356188"/>
                </a:lnTo>
                <a:lnTo>
                  <a:pt x="5994743" y="534281"/>
                </a:lnTo>
                <a:lnTo>
                  <a:pt x="5816650" y="356188"/>
                </a:lnTo>
                <a:lnTo>
                  <a:pt x="5905696" y="356188"/>
                </a:lnTo>
                <a:lnTo>
                  <a:pt x="5905696" y="311664"/>
                </a:lnTo>
                <a:cubicBezTo>
                  <a:pt x="5905696" y="237895"/>
                  <a:pt x="5845895" y="178094"/>
                  <a:pt x="5772126" y="178094"/>
                </a:cubicBezTo>
                <a:lnTo>
                  <a:pt x="978399" y="178094"/>
                </a:lnTo>
                <a:cubicBezTo>
                  <a:pt x="904630" y="178094"/>
                  <a:pt x="844829" y="237895"/>
                  <a:pt x="844829" y="311664"/>
                </a:cubicBezTo>
                <a:lnTo>
                  <a:pt x="844829" y="712375"/>
                </a:lnTo>
                <a:lnTo>
                  <a:pt x="1432560" y="712375"/>
                </a:lnTo>
                <a:lnTo>
                  <a:pt x="1432560" y="2177538"/>
                </a:lnTo>
                <a:lnTo>
                  <a:pt x="0" y="2177538"/>
                </a:lnTo>
                <a:lnTo>
                  <a:pt x="0" y="712375"/>
                </a:lnTo>
                <a:lnTo>
                  <a:pt x="666735" y="712375"/>
                </a:lnTo>
                <a:lnTo>
                  <a:pt x="666735" y="311664"/>
                </a:lnTo>
                <a:cubicBezTo>
                  <a:pt x="666735" y="139537"/>
                  <a:pt x="806272" y="0"/>
                  <a:pt x="978399" y="0"/>
                </a:cubicBezTo>
                <a:close/>
              </a:path>
            </a:pathLst>
          </a:cu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32" name="Rectangle 31">
            <a:extLst>
              <a:ext uri="{FF2B5EF4-FFF2-40B4-BE49-F238E27FC236}">
                <a16:creationId xmlns:a16="http://schemas.microsoft.com/office/drawing/2014/main" id="{766FB16F-8786-F9EA-1F74-809F7F099F73}"/>
              </a:ext>
            </a:extLst>
          </p:cNvPr>
          <p:cNvSpPr/>
          <p:nvPr/>
        </p:nvSpPr>
        <p:spPr>
          <a:xfrm>
            <a:off x="7698229" y="4258305"/>
            <a:ext cx="593386" cy="1015302"/>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E2C3521-F7D2-3338-A441-37C845148F8A}"/>
              </a:ext>
            </a:extLst>
          </p:cNvPr>
          <p:cNvSpPr/>
          <p:nvPr/>
        </p:nvSpPr>
        <p:spPr>
          <a:xfrm>
            <a:off x="3734213" y="4268465"/>
            <a:ext cx="593386" cy="101827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3FA8AFA-7C3D-FCCD-4E31-0FBBD0E2624C}"/>
              </a:ext>
            </a:extLst>
          </p:cNvPr>
          <p:cNvSpPr/>
          <p:nvPr/>
        </p:nvSpPr>
        <p:spPr>
          <a:xfrm>
            <a:off x="5319820" y="4103101"/>
            <a:ext cx="593386" cy="1183639"/>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81A8B06-F790-800A-A2C7-EA6C5DED2EFC}"/>
              </a:ext>
            </a:extLst>
          </p:cNvPr>
          <p:cNvSpPr/>
          <p:nvPr/>
        </p:nvSpPr>
        <p:spPr>
          <a:xfrm>
            <a:off x="4543422" y="5140326"/>
            <a:ext cx="593386" cy="146414"/>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EB7808B-4351-9693-A879-20A7C821643C}"/>
              </a:ext>
            </a:extLst>
          </p:cNvPr>
          <p:cNvSpPr/>
          <p:nvPr/>
        </p:nvSpPr>
        <p:spPr>
          <a:xfrm>
            <a:off x="6112623" y="4833090"/>
            <a:ext cx="593386" cy="453649"/>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398FB37-94F5-7317-304F-341CA8DEC5A8}"/>
              </a:ext>
            </a:extLst>
          </p:cNvPr>
          <p:cNvSpPr/>
          <p:nvPr/>
        </p:nvSpPr>
        <p:spPr>
          <a:xfrm>
            <a:off x="6905426" y="3029647"/>
            <a:ext cx="593386" cy="224772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1F1C7BE-FADC-1880-A60E-1EF19B012D11}"/>
              </a:ext>
            </a:extLst>
          </p:cNvPr>
          <p:cNvSpPr/>
          <p:nvPr/>
        </p:nvSpPr>
        <p:spPr>
          <a:xfrm rot="10800000">
            <a:off x="7698228" y="2972755"/>
            <a:ext cx="593386" cy="1283334"/>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38DE5A95-EC72-9CF4-CB46-8885F5BE6254}"/>
              </a:ext>
            </a:extLst>
          </p:cNvPr>
          <p:cNvSpPr/>
          <p:nvPr/>
        </p:nvSpPr>
        <p:spPr>
          <a:xfrm rot="10800000">
            <a:off x="6112623" y="2972755"/>
            <a:ext cx="593386" cy="1850300"/>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D5AA3F0-50DB-5405-4656-67E97B6CAA1E}"/>
              </a:ext>
            </a:extLst>
          </p:cNvPr>
          <p:cNvSpPr/>
          <p:nvPr/>
        </p:nvSpPr>
        <p:spPr>
          <a:xfrm rot="10800000">
            <a:off x="5319819" y="2972755"/>
            <a:ext cx="593386" cy="1129237"/>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54BA30C9-3DEE-AD9E-2DB8-BCB80B2F30BB}"/>
              </a:ext>
            </a:extLst>
          </p:cNvPr>
          <p:cNvSpPr/>
          <p:nvPr/>
        </p:nvSpPr>
        <p:spPr>
          <a:xfrm rot="10800000">
            <a:off x="3734213" y="2972755"/>
            <a:ext cx="593386" cy="1286870"/>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188A523-1DF0-A1EF-0DBF-62327EE69CF1}"/>
              </a:ext>
            </a:extLst>
          </p:cNvPr>
          <p:cNvSpPr/>
          <p:nvPr/>
        </p:nvSpPr>
        <p:spPr>
          <a:xfrm rot="10800000">
            <a:off x="4543422" y="2971432"/>
            <a:ext cx="593386" cy="2177537"/>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E7424D0A-0062-E90B-1E25-65BB36F5C267}"/>
              </a:ext>
            </a:extLst>
          </p:cNvPr>
          <p:cNvCxnSpPr>
            <a:cxnSpLocks/>
          </p:cNvCxnSpPr>
          <p:nvPr/>
        </p:nvCxnSpPr>
        <p:spPr>
          <a:xfrm flipV="1">
            <a:off x="2573004" y="4463589"/>
            <a:ext cx="6113796" cy="29468"/>
          </a:xfrm>
          <a:prstGeom prst="line">
            <a:avLst/>
          </a:prstGeom>
          <a:ln>
            <a:solidFill>
              <a:srgbClr val="FFFF00"/>
            </a:solidFill>
            <a:prstDash val="dash"/>
          </a:ln>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F68E306A-42A4-2627-6983-33D69462F024}"/>
              </a:ext>
            </a:extLst>
          </p:cNvPr>
          <p:cNvSpPr/>
          <p:nvPr/>
        </p:nvSpPr>
        <p:spPr>
          <a:xfrm rot="10800000">
            <a:off x="6905426" y="2969046"/>
            <a:ext cx="593386" cy="62094"/>
          </a:xfrm>
          <a:prstGeom prst="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35D0B09F-E42B-953F-41BE-F3F93A9F2CBC}"/>
              </a:ext>
            </a:extLst>
          </p:cNvPr>
          <p:cNvCxnSpPr>
            <a:cxnSpLocks/>
          </p:cNvCxnSpPr>
          <p:nvPr/>
        </p:nvCxnSpPr>
        <p:spPr>
          <a:xfrm flipV="1">
            <a:off x="2559613" y="3498755"/>
            <a:ext cx="6113796" cy="29468"/>
          </a:xfrm>
          <a:prstGeom prst="line">
            <a:avLst/>
          </a:prstGeom>
          <a:ln w="38100">
            <a:solidFill>
              <a:srgbClr val="FFFF00"/>
            </a:solidFill>
            <a:prstDash val="dash"/>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53805E86-E932-2A8A-AFA1-32360A002E3F}"/>
              </a:ext>
            </a:extLst>
          </p:cNvPr>
          <p:cNvSpPr txBox="1"/>
          <p:nvPr/>
        </p:nvSpPr>
        <p:spPr>
          <a:xfrm>
            <a:off x="557009" y="3206309"/>
            <a:ext cx="1148917" cy="984885"/>
          </a:xfrm>
          <a:prstGeom prst="rect">
            <a:avLst/>
          </a:prstGeom>
          <a:noFill/>
        </p:spPr>
        <p:txBody>
          <a:bodyPr wrap="square" rtlCol="0">
            <a:spAutoFit/>
          </a:bodyPr>
          <a:lstStyle/>
          <a:p>
            <a:pPr algn="ctr"/>
            <a:r>
              <a:rPr lang="en-US" sz="2000" dirty="0">
                <a:ln w="0"/>
                <a:effectLst>
                  <a:outerShdw blurRad="38100" dist="19050" dir="2700000" algn="tl" rotWithShape="0">
                    <a:schemeClr val="dk1">
                      <a:alpha val="40000"/>
                    </a:schemeClr>
                  </a:outerShdw>
                </a:effectLst>
              </a:rPr>
              <a:t>Available Power</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SAPE Challenges</a:t>
            </a:r>
            <a:endParaRPr lang="en-US" dirty="0"/>
          </a:p>
        </p:txBody>
      </p:sp>
      <p:sp>
        <p:nvSpPr>
          <p:cNvPr id="3" name="Content Placeholder 2"/>
          <p:cNvSpPr>
            <a:spLocks noGrp="1"/>
          </p:cNvSpPr>
          <p:nvPr>
            <p:ph idx="1"/>
          </p:nvPr>
        </p:nvSpPr>
        <p:spPr>
          <a:xfrm>
            <a:off x="457201" y="1143000"/>
            <a:ext cx="8229599" cy="1695203"/>
          </a:xfrm>
        </p:spPr>
        <p:txBody>
          <a:bodyPr>
            <a:normAutofit fontScale="92500" lnSpcReduction="20000"/>
          </a:bodyPr>
          <a:lstStyle/>
          <a:p>
            <a:r>
              <a:rPr lang="en-US" dirty="0"/>
              <a:t>Find protocol-compliance design so that </a:t>
            </a:r>
            <a:r>
              <a:rPr lang="en-US" b="1" dirty="0">
                <a:solidFill>
                  <a:srgbClr val="FF0000"/>
                </a:solidFill>
              </a:rPr>
              <a:t>No UE-Modification needed</a:t>
            </a:r>
          </a:p>
          <a:p>
            <a:r>
              <a:rPr lang="en-US" dirty="0"/>
              <a:t>Implementation challenges: </a:t>
            </a:r>
            <a:r>
              <a:rPr lang="en-US" b="1" dirty="0">
                <a:solidFill>
                  <a:srgbClr val="FF0000"/>
                </a:solidFill>
              </a:rPr>
              <a:t>SAPE on a Practical Platform</a:t>
            </a:r>
          </a:p>
        </p:txBody>
      </p:sp>
      <p:pic>
        <p:nvPicPr>
          <p:cNvPr id="5" name="Picture 4">
            <a:extLst>
              <a:ext uri="{FF2B5EF4-FFF2-40B4-BE49-F238E27FC236}">
                <a16:creationId xmlns:a16="http://schemas.microsoft.com/office/drawing/2014/main" id="{C7146605-10CA-3D25-59E8-2957CCFD21A6}"/>
              </a:ext>
            </a:extLst>
          </p:cNvPr>
          <p:cNvPicPr>
            <a:picLocks noChangeAspect="1"/>
          </p:cNvPicPr>
          <p:nvPr/>
        </p:nvPicPr>
        <p:blipFill>
          <a:blip r:embed="rId3"/>
          <a:stretch>
            <a:fillRect/>
          </a:stretch>
        </p:blipFill>
        <p:spPr>
          <a:xfrm>
            <a:off x="1355724" y="2734787"/>
            <a:ext cx="6432551" cy="36357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SAPE Algorithm (High Level)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1" y="1600201"/>
                <a:ext cx="7975788" cy="2383061"/>
              </a:xfrm>
            </p:spPr>
            <p:txBody>
              <a:bodyPr>
                <a:normAutofit fontScale="85000" lnSpcReduction="10000"/>
              </a:bodyPr>
              <a:lstStyle/>
              <a:p>
                <a:pPr marL="0" indent="0">
                  <a:buNone/>
                </a:pPr>
                <a:r>
                  <a:rPr dirty="0"/>
                  <a:t>• Map </a:t>
                </a:r>
                <a:r>
                  <a:rPr dirty="0" err="1"/>
                  <a:t>subband</a:t>
                </a:r>
                <a:r>
                  <a:rPr dirty="0"/>
                  <a:t> CQI to gain values</a:t>
                </a:r>
                <a:endParaRPr lang="en-US" dirty="0"/>
              </a:p>
              <a:p>
                <a:pPr marL="0" indent="0">
                  <a:buNone/>
                </a:pPr>
                <a:endParaRPr lang="en-US" dirty="0"/>
              </a:p>
              <a:p>
                <a:pPr marL="0" indent="0">
                  <a:buNone/>
                </a:pPr>
                <a:endParaRPr dirty="0"/>
              </a:p>
              <a:p>
                <a:pPr marL="0" indent="0">
                  <a:buNone/>
                </a:pPr>
                <a:r>
                  <a:rPr dirty="0"/>
                  <a:t>• Apply gains to data</a:t>
                </a:r>
                <a:r>
                  <a:rPr lang="en-US" dirty="0"/>
                  <a:t> (PDSCH symbols)</a:t>
                </a:r>
                <a:r>
                  <a:rPr dirty="0"/>
                  <a:t> and reference symbols</a:t>
                </a:r>
                <a:r>
                  <a:rPr lang="en-US" dirty="0"/>
                  <a:t>, then Normalize total transmit power by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dirty="0"/>
              </a:p>
              <a:p>
                <a:pPr marL="0" indent="0">
                  <a:buNone/>
                </a:pP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1" y="1600201"/>
                <a:ext cx="7975788" cy="2383061"/>
              </a:xfrm>
              <a:blipFill>
                <a:blip r:embed="rId3"/>
                <a:stretch>
                  <a:fillRect l="-1592" t="-425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5CB5F05-DFBA-9CBF-43DF-4797D4BE4138}"/>
              </a:ext>
            </a:extLst>
          </p:cNvPr>
          <p:cNvPicPr>
            <a:picLocks noChangeAspect="1"/>
          </p:cNvPicPr>
          <p:nvPr/>
        </p:nvPicPr>
        <p:blipFill>
          <a:blip r:embed="rId4"/>
          <a:stretch>
            <a:fillRect/>
          </a:stretch>
        </p:blipFill>
        <p:spPr>
          <a:xfrm>
            <a:off x="1660340" y="3717177"/>
            <a:ext cx="5823320" cy="2510303"/>
          </a:xfrm>
          <a:prstGeom prst="rect">
            <a:avLst/>
          </a:prstGeom>
        </p:spPr>
      </p:pic>
      <p:pic>
        <p:nvPicPr>
          <p:cNvPr id="6" name="Picture 5">
            <a:extLst>
              <a:ext uri="{FF2B5EF4-FFF2-40B4-BE49-F238E27FC236}">
                <a16:creationId xmlns:a16="http://schemas.microsoft.com/office/drawing/2014/main" id="{BFD5F41B-9595-7FFB-D7EF-0F61F5435B3E}"/>
              </a:ext>
            </a:extLst>
          </p:cNvPr>
          <p:cNvPicPr>
            <a:picLocks noChangeAspect="1"/>
          </p:cNvPicPr>
          <p:nvPr/>
        </p:nvPicPr>
        <p:blipFill>
          <a:blip r:embed="rId5"/>
          <a:stretch>
            <a:fillRect/>
          </a:stretch>
        </p:blipFill>
        <p:spPr>
          <a:xfrm>
            <a:off x="1499467" y="2092956"/>
            <a:ext cx="5891256" cy="865381"/>
          </a:xfrm>
          <a:prstGeom prst="rect">
            <a:avLst/>
          </a:prstGeom>
        </p:spPr>
      </p:pic>
      <p:sp>
        <p:nvSpPr>
          <p:cNvPr id="7" name="TextBox 6">
            <a:extLst>
              <a:ext uri="{FF2B5EF4-FFF2-40B4-BE49-F238E27FC236}">
                <a16:creationId xmlns:a16="http://schemas.microsoft.com/office/drawing/2014/main" id="{14762005-7B71-9C09-C445-FB04670F7722}"/>
              </a:ext>
            </a:extLst>
          </p:cNvPr>
          <p:cNvSpPr txBox="1"/>
          <p:nvPr/>
        </p:nvSpPr>
        <p:spPr>
          <a:xfrm>
            <a:off x="2488135" y="5435600"/>
            <a:ext cx="1452880" cy="369332"/>
          </a:xfrm>
          <a:prstGeom prst="rect">
            <a:avLst/>
          </a:prstGeom>
          <a:noFill/>
        </p:spPr>
        <p:txBody>
          <a:bodyPr wrap="square" rtlCol="0">
            <a:spAutoFit/>
          </a:bodyPr>
          <a:lstStyle/>
          <a:p>
            <a:r>
              <a:rPr lang="en-US" b="1" dirty="0">
                <a:solidFill>
                  <a:srgbClr val="FF0000"/>
                </a:solidFill>
              </a:rPr>
              <a:t>Data symbols</a:t>
            </a:r>
          </a:p>
        </p:txBody>
      </p:sp>
      <p:sp>
        <p:nvSpPr>
          <p:cNvPr id="8" name="TextBox 7">
            <a:extLst>
              <a:ext uri="{FF2B5EF4-FFF2-40B4-BE49-F238E27FC236}">
                <a16:creationId xmlns:a16="http://schemas.microsoft.com/office/drawing/2014/main" id="{A3521EF4-3823-8097-69A5-983AF6982238}"/>
              </a:ext>
            </a:extLst>
          </p:cNvPr>
          <p:cNvSpPr txBox="1"/>
          <p:nvPr/>
        </p:nvSpPr>
        <p:spPr>
          <a:xfrm>
            <a:off x="4768810" y="5435600"/>
            <a:ext cx="2714850" cy="369332"/>
          </a:xfrm>
          <a:prstGeom prst="rect">
            <a:avLst/>
          </a:prstGeom>
          <a:noFill/>
        </p:spPr>
        <p:txBody>
          <a:bodyPr wrap="square" rtlCol="0">
            <a:spAutoFit/>
          </a:bodyPr>
          <a:lstStyle/>
          <a:p>
            <a:r>
              <a:rPr lang="en-US" b="1" dirty="0">
                <a:solidFill>
                  <a:srgbClr val="FF0000"/>
                </a:solidFill>
              </a:rPr>
              <a:t>Reference signal symbols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7F5AD-F0BC-ECF1-1CE3-CCCB30459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7E6B1-E883-4997-D38B-78DAF1A1C6BA}"/>
              </a:ext>
            </a:extLst>
          </p:cNvPr>
          <p:cNvSpPr>
            <a:spLocks noGrp="1"/>
          </p:cNvSpPr>
          <p:nvPr>
            <p:ph type="title"/>
          </p:nvPr>
        </p:nvSpPr>
        <p:spPr/>
        <p:txBody>
          <a:bodyPr/>
          <a:lstStyle/>
          <a:p>
            <a:r>
              <a:rPr b="1" dirty="0"/>
              <a:t>SAPE </a:t>
            </a:r>
            <a:r>
              <a:rPr lang="en-US" b="1" dirty="0"/>
              <a:t>Implementation</a:t>
            </a:r>
            <a:endParaRPr b="1" dirty="0"/>
          </a:p>
        </p:txBody>
      </p:sp>
      <p:pic>
        <p:nvPicPr>
          <p:cNvPr id="9" name="Picture 8" descr="A diagram of a computer program&#10;&#10;AI-generated content may be incorrect.">
            <a:extLst>
              <a:ext uri="{FF2B5EF4-FFF2-40B4-BE49-F238E27FC236}">
                <a16:creationId xmlns:a16="http://schemas.microsoft.com/office/drawing/2014/main" id="{ED806248-E209-C8F1-2625-E88654C65D28}"/>
              </a:ext>
            </a:extLst>
          </p:cNvPr>
          <p:cNvPicPr>
            <a:picLocks noChangeAspect="1"/>
          </p:cNvPicPr>
          <p:nvPr/>
        </p:nvPicPr>
        <p:blipFill>
          <a:blip r:embed="rId3"/>
          <a:stretch>
            <a:fillRect/>
          </a:stretch>
        </p:blipFill>
        <p:spPr>
          <a:xfrm>
            <a:off x="3175972" y="1794932"/>
            <a:ext cx="4656464" cy="4069929"/>
          </a:xfrm>
          <a:prstGeom prst="rect">
            <a:avLst/>
          </a:prstGeom>
        </p:spPr>
      </p:pic>
      <p:sp>
        <p:nvSpPr>
          <p:cNvPr id="10" name="Rectangle 9">
            <a:extLst>
              <a:ext uri="{FF2B5EF4-FFF2-40B4-BE49-F238E27FC236}">
                <a16:creationId xmlns:a16="http://schemas.microsoft.com/office/drawing/2014/main" id="{9FF68D1F-5C76-09AC-AD44-2F8859CD6145}"/>
              </a:ext>
            </a:extLst>
          </p:cNvPr>
          <p:cNvSpPr/>
          <p:nvPr/>
        </p:nvSpPr>
        <p:spPr>
          <a:xfrm>
            <a:off x="191911" y="1794932"/>
            <a:ext cx="1885244" cy="114299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UE’s Channel  Estimation on Sub-band Level</a:t>
            </a:r>
          </a:p>
        </p:txBody>
      </p:sp>
      <p:cxnSp>
        <p:nvCxnSpPr>
          <p:cNvPr id="12" name="Straight Arrow Connector 11">
            <a:extLst>
              <a:ext uri="{FF2B5EF4-FFF2-40B4-BE49-F238E27FC236}">
                <a16:creationId xmlns:a16="http://schemas.microsoft.com/office/drawing/2014/main" id="{7DF1B79A-1B69-87BF-C8D4-47850F0B29F7}"/>
              </a:ext>
            </a:extLst>
          </p:cNvPr>
          <p:cNvCxnSpPr>
            <a:cxnSpLocks/>
            <a:stCxn id="10" idx="3"/>
          </p:cNvCxnSpPr>
          <p:nvPr/>
        </p:nvCxnSpPr>
        <p:spPr>
          <a:xfrm>
            <a:off x="2077155" y="2366432"/>
            <a:ext cx="109881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2A0A534-46FA-3A55-9809-1F21DD5C3451}"/>
              </a:ext>
            </a:extLst>
          </p:cNvPr>
          <p:cNvSpPr txBox="1"/>
          <p:nvPr/>
        </p:nvSpPr>
        <p:spPr>
          <a:xfrm>
            <a:off x="2205615" y="1997099"/>
            <a:ext cx="841897" cy="369332"/>
          </a:xfrm>
          <a:prstGeom prst="rect">
            <a:avLst/>
          </a:prstGeom>
          <a:noFill/>
        </p:spPr>
        <p:txBody>
          <a:bodyPr wrap="none" rtlCol="0">
            <a:spAutoFit/>
          </a:bodyPr>
          <a:lstStyle/>
          <a:p>
            <a:r>
              <a:rPr lang="en-US" dirty="0"/>
              <a:t>PUCCH</a:t>
            </a:r>
          </a:p>
        </p:txBody>
      </p:sp>
      <p:sp>
        <p:nvSpPr>
          <p:cNvPr id="15" name="Rectangle 14">
            <a:extLst>
              <a:ext uri="{FF2B5EF4-FFF2-40B4-BE49-F238E27FC236}">
                <a16:creationId xmlns:a16="http://schemas.microsoft.com/office/drawing/2014/main" id="{9690A08A-AF74-EF9A-FC6C-573078484EFD}"/>
              </a:ext>
            </a:extLst>
          </p:cNvPr>
          <p:cNvSpPr/>
          <p:nvPr/>
        </p:nvSpPr>
        <p:spPr>
          <a:xfrm>
            <a:off x="3175971" y="1690254"/>
            <a:ext cx="4656463" cy="2733936"/>
          </a:xfrm>
          <a:prstGeom prst="rect">
            <a:avLst/>
          </a:prstGeom>
          <a:noFill/>
          <a:ln w="444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50D5651-8C14-16D2-FCF3-5C3BD86610DE}"/>
              </a:ext>
            </a:extLst>
          </p:cNvPr>
          <p:cNvSpPr txBox="1"/>
          <p:nvPr/>
        </p:nvSpPr>
        <p:spPr>
          <a:xfrm>
            <a:off x="4397489" y="1267205"/>
            <a:ext cx="2213426" cy="461665"/>
          </a:xfrm>
          <a:prstGeom prst="rect">
            <a:avLst/>
          </a:prstGeom>
          <a:noFill/>
        </p:spPr>
        <p:txBody>
          <a:bodyPr wrap="none" rtlCol="0">
            <a:spAutoFit/>
          </a:bodyPr>
          <a:lstStyle/>
          <a:p>
            <a:r>
              <a:rPr lang="en-US" sz="2400" dirty="0"/>
              <a:t>MAC Scheduling</a:t>
            </a:r>
          </a:p>
        </p:txBody>
      </p:sp>
      <p:sp>
        <p:nvSpPr>
          <p:cNvPr id="17" name="TextBox 16">
            <a:extLst>
              <a:ext uri="{FF2B5EF4-FFF2-40B4-BE49-F238E27FC236}">
                <a16:creationId xmlns:a16="http://schemas.microsoft.com/office/drawing/2014/main" id="{4E568FE4-51F4-657E-9970-71A8A11DD80A}"/>
              </a:ext>
            </a:extLst>
          </p:cNvPr>
          <p:cNvSpPr txBox="1"/>
          <p:nvPr/>
        </p:nvSpPr>
        <p:spPr>
          <a:xfrm>
            <a:off x="720437" y="4490252"/>
            <a:ext cx="7111998" cy="1374591"/>
          </a:xfrm>
          <a:prstGeom prst="rect">
            <a:avLst/>
          </a:prstGeom>
          <a:noFill/>
          <a:ln w="60325">
            <a:solidFill>
              <a:srgbClr val="FF0000"/>
            </a:solidFill>
          </a:ln>
        </p:spPr>
        <p:txBody>
          <a:bodyPr wrap="square" rtlCol="0">
            <a:spAutoFit/>
          </a:bodyPr>
          <a:lstStyle/>
          <a:p>
            <a:endParaRPr lang="en-US" dirty="0"/>
          </a:p>
        </p:txBody>
      </p:sp>
      <p:sp>
        <p:nvSpPr>
          <p:cNvPr id="18" name="TextBox 17">
            <a:extLst>
              <a:ext uri="{FF2B5EF4-FFF2-40B4-BE49-F238E27FC236}">
                <a16:creationId xmlns:a16="http://schemas.microsoft.com/office/drawing/2014/main" id="{2F21046D-E2BC-776A-8DE6-88E4886A6F87}"/>
              </a:ext>
            </a:extLst>
          </p:cNvPr>
          <p:cNvSpPr txBox="1"/>
          <p:nvPr/>
        </p:nvSpPr>
        <p:spPr>
          <a:xfrm>
            <a:off x="1146736" y="4864805"/>
            <a:ext cx="1311564" cy="601420"/>
          </a:xfrm>
          <a:prstGeom prst="rect">
            <a:avLst/>
          </a:prstGeom>
          <a:solidFill>
            <a:schemeClr val="accent6">
              <a:lumMod val="75000"/>
            </a:schemeClr>
          </a:solidFill>
        </p:spPr>
        <p:txBody>
          <a:bodyPr wrap="square" rtlCol="0">
            <a:spAutoFit/>
          </a:bodyPr>
          <a:lstStyle/>
          <a:p>
            <a:pPr algn="ctr"/>
            <a:r>
              <a:rPr lang="en-US" sz="3200" dirty="0"/>
              <a:t>SAPE</a:t>
            </a:r>
            <a:endParaRPr lang="en-US" sz="3600" dirty="0"/>
          </a:p>
        </p:txBody>
      </p:sp>
      <p:sp>
        <p:nvSpPr>
          <p:cNvPr id="19" name="TextBox 18">
            <a:extLst>
              <a:ext uri="{FF2B5EF4-FFF2-40B4-BE49-F238E27FC236}">
                <a16:creationId xmlns:a16="http://schemas.microsoft.com/office/drawing/2014/main" id="{BE98CFCE-E9DD-732D-0E44-85F5CA5EB63E}"/>
              </a:ext>
            </a:extLst>
          </p:cNvPr>
          <p:cNvSpPr txBox="1"/>
          <p:nvPr/>
        </p:nvSpPr>
        <p:spPr>
          <a:xfrm>
            <a:off x="3157059" y="5864595"/>
            <a:ext cx="2238754" cy="461665"/>
          </a:xfrm>
          <a:prstGeom prst="rect">
            <a:avLst/>
          </a:prstGeom>
          <a:noFill/>
        </p:spPr>
        <p:txBody>
          <a:bodyPr wrap="none" rtlCol="0">
            <a:spAutoFit/>
          </a:bodyPr>
          <a:lstStyle/>
          <a:p>
            <a:r>
              <a:rPr lang="en-US" sz="2400" dirty="0"/>
              <a:t>PDSCH Encoding</a:t>
            </a:r>
          </a:p>
        </p:txBody>
      </p:sp>
      <p:cxnSp>
        <p:nvCxnSpPr>
          <p:cNvPr id="22" name="Straight Arrow Connector 21">
            <a:extLst>
              <a:ext uri="{FF2B5EF4-FFF2-40B4-BE49-F238E27FC236}">
                <a16:creationId xmlns:a16="http://schemas.microsoft.com/office/drawing/2014/main" id="{88569FEA-712A-549A-D5FC-D471EA4FDF7C}"/>
              </a:ext>
            </a:extLst>
          </p:cNvPr>
          <p:cNvCxnSpPr>
            <a:cxnSpLocks/>
            <a:endCxn id="18" idx="3"/>
          </p:cNvCxnSpPr>
          <p:nvPr/>
        </p:nvCxnSpPr>
        <p:spPr>
          <a:xfrm flipH="1">
            <a:off x="2458300" y="5165515"/>
            <a:ext cx="814289" cy="0"/>
          </a:xfrm>
          <a:prstGeom prst="straightConnector1">
            <a:avLst/>
          </a:prstGeom>
          <a:ln w="381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348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blinds(horizontal)">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checkerboard(across)">
                                      <p:cBhvr>
                                        <p:cTn id="31" dur="500"/>
                                        <p:tgtEl>
                                          <p:spTgt spid="19"/>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checkerboard(across)">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dissolve">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15" grpId="0" animBg="1"/>
      <p:bldP spid="16" grpId="0"/>
      <p:bldP spid="17" grpId="0" animBg="1"/>
      <p:bldP spid="18" grpId="0" animBg="1"/>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err="1"/>
              <a:t>srsRAN</a:t>
            </a:r>
            <a:r>
              <a:rPr b="1" dirty="0"/>
              <a:t> SDR Testbed</a:t>
            </a:r>
          </a:p>
        </p:txBody>
      </p:sp>
      <p:sp>
        <p:nvSpPr>
          <p:cNvPr id="3" name="Content Placeholder 2"/>
          <p:cNvSpPr>
            <a:spLocks noGrp="1"/>
          </p:cNvSpPr>
          <p:nvPr>
            <p:ph idx="1"/>
          </p:nvPr>
        </p:nvSpPr>
        <p:spPr/>
        <p:txBody>
          <a:bodyPr/>
          <a:lstStyle/>
          <a:p>
            <a:r>
              <a:rPr dirty="0"/>
              <a:t>USRP B210, LTE FDD</a:t>
            </a:r>
            <a:r>
              <a:rPr lang="en-US" dirty="0"/>
              <a:t>, Band 7</a:t>
            </a:r>
            <a:endParaRPr dirty="0"/>
          </a:p>
          <a:p>
            <a:r>
              <a:rPr dirty="0"/>
              <a:t>Periodic wideband + </a:t>
            </a:r>
            <a:r>
              <a:rPr dirty="0" err="1"/>
              <a:t>subband</a:t>
            </a:r>
            <a:r>
              <a:rPr dirty="0"/>
              <a:t> CQI</a:t>
            </a:r>
          </a:p>
          <a:p>
            <a:r>
              <a:rPr dirty="0"/>
              <a:t>Indoor LOS and NLOS scenarios</a:t>
            </a:r>
          </a:p>
        </p:txBody>
      </p:sp>
      <p:pic>
        <p:nvPicPr>
          <p:cNvPr id="4" name="Picture 3">
            <a:extLst>
              <a:ext uri="{FF2B5EF4-FFF2-40B4-BE49-F238E27FC236}">
                <a16:creationId xmlns:a16="http://schemas.microsoft.com/office/drawing/2014/main" id="{B6428F87-A2C4-BE08-C262-3AF5D830B509}"/>
              </a:ext>
            </a:extLst>
          </p:cNvPr>
          <p:cNvPicPr>
            <a:picLocks noChangeAspect="1"/>
          </p:cNvPicPr>
          <p:nvPr/>
        </p:nvPicPr>
        <p:blipFill>
          <a:blip r:embed="rId3"/>
          <a:stretch>
            <a:fillRect/>
          </a:stretch>
        </p:blipFill>
        <p:spPr>
          <a:xfrm>
            <a:off x="685800" y="3474981"/>
            <a:ext cx="7772400" cy="28337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860" y="220312"/>
            <a:ext cx="8436279" cy="1143000"/>
          </a:xfrm>
        </p:spPr>
        <p:txBody>
          <a:bodyPr>
            <a:normAutofit fontScale="90000"/>
          </a:bodyPr>
          <a:lstStyle/>
          <a:p>
            <a:r>
              <a:rPr lang="en-US" b="1" dirty="0"/>
              <a:t>Indoor NLOS: Tail Performance Matters</a:t>
            </a:r>
          </a:p>
        </p:txBody>
      </p:sp>
      <p:pic>
        <p:nvPicPr>
          <p:cNvPr id="5" name="Picture 4">
            <a:extLst>
              <a:ext uri="{FF2B5EF4-FFF2-40B4-BE49-F238E27FC236}">
                <a16:creationId xmlns:a16="http://schemas.microsoft.com/office/drawing/2014/main" id="{05D2F485-95BE-A2E3-0E0D-500AE2D14100}"/>
              </a:ext>
            </a:extLst>
          </p:cNvPr>
          <p:cNvPicPr>
            <a:picLocks noChangeAspect="1"/>
          </p:cNvPicPr>
          <p:nvPr/>
        </p:nvPicPr>
        <p:blipFill>
          <a:blip r:embed="rId3"/>
          <a:stretch>
            <a:fillRect/>
          </a:stretch>
        </p:blipFill>
        <p:spPr>
          <a:xfrm>
            <a:off x="457200" y="1588936"/>
            <a:ext cx="4560379" cy="2704192"/>
          </a:xfrm>
          <a:prstGeom prst="rect">
            <a:avLst/>
          </a:prstGeom>
        </p:spPr>
      </p:pic>
      <p:pic>
        <p:nvPicPr>
          <p:cNvPr id="6" name="Picture 5">
            <a:extLst>
              <a:ext uri="{FF2B5EF4-FFF2-40B4-BE49-F238E27FC236}">
                <a16:creationId xmlns:a16="http://schemas.microsoft.com/office/drawing/2014/main" id="{BA73F1C7-AA95-C12F-D995-CB86DF311CC2}"/>
              </a:ext>
            </a:extLst>
          </p:cNvPr>
          <p:cNvPicPr>
            <a:picLocks noChangeAspect="1"/>
          </p:cNvPicPr>
          <p:nvPr/>
        </p:nvPicPr>
        <p:blipFill>
          <a:blip r:embed="rId4"/>
          <a:stretch>
            <a:fillRect/>
          </a:stretch>
        </p:blipFill>
        <p:spPr>
          <a:xfrm>
            <a:off x="4572000" y="1588936"/>
            <a:ext cx="4457892" cy="2808566"/>
          </a:xfrm>
          <a:prstGeom prst="rect">
            <a:avLst/>
          </a:prstGeom>
        </p:spPr>
      </p:pic>
      <p:sp>
        <p:nvSpPr>
          <p:cNvPr id="7" name="Rectangle: Rounded Corners 4">
            <a:extLst>
              <a:ext uri="{FF2B5EF4-FFF2-40B4-BE49-F238E27FC236}">
                <a16:creationId xmlns:a16="http://schemas.microsoft.com/office/drawing/2014/main" id="{F471FAE9-A555-97AC-2C21-689F5120DD4A}"/>
              </a:ext>
            </a:extLst>
          </p:cNvPr>
          <p:cNvSpPr/>
          <p:nvPr/>
        </p:nvSpPr>
        <p:spPr>
          <a:xfrm>
            <a:off x="917983" y="4822071"/>
            <a:ext cx="3638811" cy="840628"/>
          </a:xfrm>
          <a:prstGeom prst="roundRect">
            <a:avLst/>
          </a:prstGeom>
          <a:solidFill>
            <a:schemeClr val="accent6">
              <a:lumMod val="5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800" dirty="0"/>
              <a:t>Lower BLER at high percentiles</a:t>
            </a:r>
          </a:p>
        </p:txBody>
      </p:sp>
      <p:sp>
        <p:nvSpPr>
          <p:cNvPr id="8" name="Rectangle: Rounded Corners 4">
            <a:extLst>
              <a:ext uri="{FF2B5EF4-FFF2-40B4-BE49-F238E27FC236}">
                <a16:creationId xmlns:a16="http://schemas.microsoft.com/office/drawing/2014/main" id="{BE50CB66-15D7-B7AE-E1D7-060A13214D50}"/>
              </a:ext>
            </a:extLst>
          </p:cNvPr>
          <p:cNvSpPr/>
          <p:nvPr/>
        </p:nvSpPr>
        <p:spPr>
          <a:xfrm>
            <a:off x="4981540" y="4848750"/>
            <a:ext cx="3638811" cy="840628"/>
          </a:xfrm>
          <a:prstGeom prst="roundRect">
            <a:avLst/>
          </a:prstGeom>
          <a:solidFill>
            <a:schemeClr val="accent6">
              <a:lumMod val="5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800" dirty="0"/>
              <a:t>Throughput gains over 25%</a:t>
            </a:r>
          </a:p>
        </p:txBody>
      </p:sp>
      <p:cxnSp>
        <p:nvCxnSpPr>
          <p:cNvPr id="4" name="Straight Connector 3">
            <a:extLst>
              <a:ext uri="{FF2B5EF4-FFF2-40B4-BE49-F238E27FC236}">
                <a16:creationId xmlns:a16="http://schemas.microsoft.com/office/drawing/2014/main" id="{50177F2D-A06E-1C98-B670-A16AC930B303}"/>
              </a:ext>
            </a:extLst>
          </p:cNvPr>
          <p:cNvCxnSpPr>
            <a:cxnSpLocks/>
          </p:cNvCxnSpPr>
          <p:nvPr/>
        </p:nvCxnSpPr>
        <p:spPr>
          <a:xfrm>
            <a:off x="3323968" y="3286897"/>
            <a:ext cx="1184041" cy="0"/>
          </a:xfrm>
          <a:prstGeom prst="line">
            <a:avLst/>
          </a:prstGeom>
          <a:ln w="41275">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46D2B27-8138-53D4-C352-77607F19C61D}"/>
              </a:ext>
            </a:extLst>
          </p:cNvPr>
          <p:cNvCxnSpPr/>
          <p:nvPr/>
        </p:nvCxnSpPr>
        <p:spPr>
          <a:xfrm>
            <a:off x="3568896" y="3145383"/>
            <a:ext cx="939113" cy="0"/>
          </a:xfrm>
          <a:prstGeom prst="line">
            <a:avLst/>
          </a:prstGeom>
          <a:ln w="41275">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34CE8905-D03B-1571-FC5A-A2B50A62C806}"/>
              </a:ext>
            </a:extLst>
          </p:cNvPr>
          <p:cNvCxnSpPr>
            <a:cxnSpLocks/>
          </p:cNvCxnSpPr>
          <p:nvPr/>
        </p:nvCxnSpPr>
        <p:spPr>
          <a:xfrm>
            <a:off x="4691743" y="3081867"/>
            <a:ext cx="0" cy="270933"/>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70D7EE2-6693-CC29-4928-3F62C5B69269}"/>
              </a:ext>
            </a:extLst>
          </p:cNvPr>
          <p:cNvCxnSpPr/>
          <p:nvPr/>
        </p:nvCxnSpPr>
        <p:spPr>
          <a:xfrm>
            <a:off x="7795047" y="2992983"/>
            <a:ext cx="939113" cy="0"/>
          </a:xfrm>
          <a:prstGeom prst="line">
            <a:avLst/>
          </a:prstGeom>
          <a:ln w="41275">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EF37CB7-4A3F-E32F-3895-F2B300A55E36}"/>
              </a:ext>
            </a:extLst>
          </p:cNvPr>
          <p:cNvCxnSpPr/>
          <p:nvPr/>
        </p:nvCxnSpPr>
        <p:spPr>
          <a:xfrm>
            <a:off x="7912297" y="1790717"/>
            <a:ext cx="939113" cy="0"/>
          </a:xfrm>
          <a:prstGeom prst="line">
            <a:avLst/>
          </a:prstGeom>
          <a:ln w="41275">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3E92E3C-171E-2236-C413-A68073612BFF}"/>
              </a:ext>
            </a:extLst>
          </p:cNvPr>
          <p:cNvCxnSpPr>
            <a:cxnSpLocks/>
          </p:cNvCxnSpPr>
          <p:nvPr/>
        </p:nvCxnSpPr>
        <p:spPr>
          <a:xfrm flipV="1">
            <a:off x="8799815" y="1854200"/>
            <a:ext cx="0" cy="1058333"/>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linds(horizontal)">
                                      <p:cBhvr>
                                        <p:cTn id="13" dur="500"/>
                                        <p:tgtEl>
                                          <p:spTgt spid="9"/>
                                        </p:tgtEl>
                                      </p:cBhvr>
                                    </p:animEffect>
                                  </p:childTnLst>
                                </p:cTn>
                              </p:par>
                              <p:par>
                                <p:cTn id="14" presetID="3" presetClass="entr" presetSubtype="1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horizontal)">
                                      <p:cBhvr>
                                        <p:cTn id="16" dur="500"/>
                                        <p:tgtEl>
                                          <p:spTgt spid="4"/>
                                        </p:tgtEl>
                                      </p:cBhvr>
                                    </p:animEffect>
                                  </p:childTnLst>
                                </p:cTn>
                              </p:par>
                              <p:par>
                                <p:cTn id="17" presetID="3" presetClass="entr" presetSubtype="1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linds(horizontal)">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blinds(horizontal)">
                                      <p:cBhvr>
                                        <p:cTn id="30" dur="500"/>
                                        <p:tgtEl>
                                          <p:spTgt spid="16"/>
                                        </p:tgtEl>
                                      </p:cBhvr>
                                    </p:animEffect>
                                  </p:childTnLst>
                                </p:cTn>
                              </p:par>
                              <p:par>
                                <p:cTn id="31" presetID="3" presetClass="entr" presetSubtype="1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blinds(horizontal)">
                                      <p:cBhvr>
                                        <p:cTn id="33" dur="500"/>
                                        <p:tgtEl>
                                          <p:spTgt spid="15"/>
                                        </p:tgtEl>
                                      </p:cBhvr>
                                    </p:animEffect>
                                  </p:childTnLst>
                                </p:cTn>
                              </p:par>
                              <p:par>
                                <p:cTn id="34" presetID="3" presetClass="entr" presetSubtype="1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blinds(horizontal)">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Indoor LOS: No-Regret Behavior</a:t>
            </a:r>
          </a:p>
        </p:txBody>
      </p:sp>
      <p:sp>
        <p:nvSpPr>
          <p:cNvPr id="3" name="Content Placeholder 2"/>
          <p:cNvSpPr>
            <a:spLocks noGrp="1"/>
          </p:cNvSpPr>
          <p:nvPr>
            <p:ph idx="1"/>
          </p:nvPr>
        </p:nvSpPr>
        <p:spPr>
          <a:xfrm>
            <a:off x="457200" y="1553175"/>
            <a:ext cx="8229600" cy="1243208"/>
          </a:xfrm>
        </p:spPr>
        <p:txBody>
          <a:bodyPr>
            <a:normAutofit fontScale="77500" lnSpcReduction="20000"/>
          </a:bodyPr>
          <a:lstStyle/>
          <a:p>
            <a:r>
              <a:rPr dirty="0"/>
              <a:t>Flat channels see no throughput gain</a:t>
            </a:r>
          </a:p>
          <a:p>
            <a:r>
              <a:rPr dirty="0"/>
              <a:t>No performance degradation</a:t>
            </a:r>
          </a:p>
          <a:p>
            <a:r>
              <a:rPr dirty="0"/>
              <a:t>Slight robustness improvement</a:t>
            </a:r>
          </a:p>
        </p:txBody>
      </p:sp>
      <p:pic>
        <p:nvPicPr>
          <p:cNvPr id="4" name="Picture 3">
            <a:extLst>
              <a:ext uri="{FF2B5EF4-FFF2-40B4-BE49-F238E27FC236}">
                <a16:creationId xmlns:a16="http://schemas.microsoft.com/office/drawing/2014/main" id="{2BDCE38B-9682-B18A-F54A-0D1214D14AEA}"/>
              </a:ext>
            </a:extLst>
          </p:cNvPr>
          <p:cNvPicPr>
            <a:picLocks noChangeAspect="1"/>
          </p:cNvPicPr>
          <p:nvPr/>
        </p:nvPicPr>
        <p:blipFill>
          <a:blip r:embed="rId3"/>
          <a:stretch>
            <a:fillRect/>
          </a:stretch>
        </p:blipFill>
        <p:spPr>
          <a:xfrm>
            <a:off x="1031831" y="2931920"/>
            <a:ext cx="7080337" cy="31543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MATLAB Simulation Setup</a:t>
            </a:r>
          </a:p>
        </p:txBody>
      </p:sp>
      <p:sp>
        <p:nvSpPr>
          <p:cNvPr id="3" name="Content Placeholder 2"/>
          <p:cNvSpPr>
            <a:spLocks noGrp="1"/>
          </p:cNvSpPr>
          <p:nvPr>
            <p:ph idx="1"/>
          </p:nvPr>
        </p:nvSpPr>
        <p:spPr>
          <a:xfrm>
            <a:off x="1112920" y="1417638"/>
            <a:ext cx="6918158" cy="1143001"/>
          </a:xfrm>
        </p:spPr>
        <p:txBody>
          <a:bodyPr>
            <a:normAutofit fontScale="70000" lnSpcReduction="20000"/>
          </a:bodyPr>
          <a:lstStyle/>
          <a:p>
            <a:r>
              <a:rPr dirty="0"/>
              <a:t>5G NR PDSCH link-level simulation</a:t>
            </a:r>
            <a:r>
              <a:rPr lang="en-US" dirty="0"/>
              <a:t> with 13 </a:t>
            </a:r>
            <a:r>
              <a:rPr lang="en-US" dirty="0" err="1"/>
              <a:t>subbands</a:t>
            </a:r>
            <a:endParaRPr dirty="0"/>
          </a:p>
          <a:p>
            <a:r>
              <a:rPr dirty="0"/>
              <a:t>Argos real-world channel traces</a:t>
            </a:r>
          </a:p>
          <a:p>
            <a:r>
              <a:rPr dirty="0"/>
              <a:t>Fixed MCS, no link adaptation</a:t>
            </a:r>
          </a:p>
        </p:txBody>
      </p:sp>
      <p:pic>
        <p:nvPicPr>
          <p:cNvPr id="6" name="Picture 5" descr="A graph of different colored lines&#10;&#10;AI-generated content may be incorrect.">
            <a:extLst>
              <a:ext uri="{FF2B5EF4-FFF2-40B4-BE49-F238E27FC236}">
                <a16:creationId xmlns:a16="http://schemas.microsoft.com/office/drawing/2014/main" id="{4629FAB6-FD3E-8393-73A8-FD5624FBFB1B}"/>
              </a:ext>
            </a:extLst>
          </p:cNvPr>
          <p:cNvPicPr>
            <a:picLocks noChangeAspect="1"/>
          </p:cNvPicPr>
          <p:nvPr/>
        </p:nvPicPr>
        <p:blipFill>
          <a:blip r:embed="rId3"/>
          <a:stretch>
            <a:fillRect/>
          </a:stretch>
        </p:blipFill>
        <p:spPr>
          <a:xfrm>
            <a:off x="1691690" y="2560638"/>
            <a:ext cx="5760620" cy="377333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458" y="66675"/>
            <a:ext cx="8463079" cy="1143000"/>
          </a:xfrm>
        </p:spPr>
        <p:txBody>
          <a:bodyPr>
            <a:normAutofit fontScale="90000"/>
          </a:bodyPr>
          <a:lstStyle/>
          <a:p>
            <a:r>
              <a:rPr b="1" dirty="0"/>
              <a:t>Simulation Results: Throughput vs SNR</a:t>
            </a:r>
          </a:p>
        </p:txBody>
      </p:sp>
      <p:sp>
        <p:nvSpPr>
          <p:cNvPr id="3" name="Content Placeholder 2"/>
          <p:cNvSpPr>
            <a:spLocks noGrp="1"/>
          </p:cNvSpPr>
          <p:nvPr>
            <p:ph idx="1"/>
          </p:nvPr>
        </p:nvSpPr>
        <p:spPr>
          <a:xfrm>
            <a:off x="457197" y="1104406"/>
            <a:ext cx="8229600" cy="1143001"/>
          </a:xfrm>
        </p:spPr>
        <p:txBody>
          <a:bodyPr>
            <a:normAutofit lnSpcReduction="10000"/>
          </a:bodyPr>
          <a:lstStyle/>
          <a:p>
            <a:r>
              <a:rPr dirty="0"/>
              <a:t>SAPE improves throughput at high MCS</a:t>
            </a:r>
          </a:p>
          <a:p>
            <a:r>
              <a:rPr dirty="0" err="1"/>
              <a:t>Waterfilling</a:t>
            </a:r>
            <a:r>
              <a:rPr dirty="0"/>
              <a:t> degrades performance</a:t>
            </a:r>
          </a:p>
        </p:txBody>
      </p:sp>
      <p:pic>
        <p:nvPicPr>
          <p:cNvPr id="5" name="Picture 4">
            <a:extLst>
              <a:ext uri="{FF2B5EF4-FFF2-40B4-BE49-F238E27FC236}">
                <a16:creationId xmlns:a16="http://schemas.microsoft.com/office/drawing/2014/main" id="{56A9E660-0CA9-213A-BB47-58DBDBB426F7}"/>
              </a:ext>
            </a:extLst>
          </p:cNvPr>
          <p:cNvPicPr>
            <a:picLocks noChangeAspect="1"/>
          </p:cNvPicPr>
          <p:nvPr/>
        </p:nvPicPr>
        <p:blipFill>
          <a:blip r:embed="rId3"/>
          <a:stretch>
            <a:fillRect/>
          </a:stretch>
        </p:blipFill>
        <p:spPr>
          <a:xfrm>
            <a:off x="4472185" y="2928551"/>
            <a:ext cx="4671815" cy="3519433"/>
          </a:xfrm>
          <a:prstGeom prst="rect">
            <a:avLst/>
          </a:prstGeom>
        </p:spPr>
      </p:pic>
      <p:pic>
        <p:nvPicPr>
          <p:cNvPr id="6" name="Picture 5">
            <a:extLst>
              <a:ext uri="{FF2B5EF4-FFF2-40B4-BE49-F238E27FC236}">
                <a16:creationId xmlns:a16="http://schemas.microsoft.com/office/drawing/2014/main" id="{7DFD3B66-EC80-EA67-B002-A7F6E52652F8}"/>
              </a:ext>
            </a:extLst>
          </p:cNvPr>
          <p:cNvPicPr>
            <a:picLocks noChangeAspect="1"/>
          </p:cNvPicPr>
          <p:nvPr/>
        </p:nvPicPr>
        <p:blipFill>
          <a:blip r:embed="rId4"/>
          <a:stretch>
            <a:fillRect/>
          </a:stretch>
        </p:blipFill>
        <p:spPr>
          <a:xfrm>
            <a:off x="0" y="2928551"/>
            <a:ext cx="4660581" cy="3519432"/>
          </a:xfrm>
          <a:prstGeom prst="rect">
            <a:avLst/>
          </a:prstGeom>
        </p:spPr>
      </p:pic>
      <p:cxnSp>
        <p:nvCxnSpPr>
          <p:cNvPr id="7" name="Straight Arrow Connector 6">
            <a:extLst>
              <a:ext uri="{FF2B5EF4-FFF2-40B4-BE49-F238E27FC236}">
                <a16:creationId xmlns:a16="http://schemas.microsoft.com/office/drawing/2014/main" id="{B88307B4-B580-52EC-1A5B-64076A848E64}"/>
              </a:ext>
            </a:extLst>
          </p:cNvPr>
          <p:cNvCxnSpPr/>
          <p:nvPr/>
        </p:nvCxnSpPr>
        <p:spPr>
          <a:xfrm flipH="1">
            <a:off x="1959429" y="5367647"/>
            <a:ext cx="2244436" cy="0"/>
          </a:xfrm>
          <a:prstGeom prst="straightConnector1">
            <a:avLst/>
          </a:prstGeom>
          <a:ln w="539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B9EA9DDB-78E2-5650-CD62-9582BE32AEE3}"/>
              </a:ext>
            </a:extLst>
          </p:cNvPr>
          <p:cNvSpPr txBox="1"/>
          <p:nvPr/>
        </p:nvSpPr>
        <p:spPr>
          <a:xfrm>
            <a:off x="2663721" y="4844427"/>
            <a:ext cx="1116203" cy="523220"/>
          </a:xfrm>
          <a:prstGeom prst="rect">
            <a:avLst/>
          </a:prstGeom>
          <a:noFill/>
        </p:spPr>
        <p:txBody>
          <a:bodyPr wrap="none" rtlCol="0">
            <a:spAutoFit/>
          </a:bodyPr>
          <a:lstStyle/>
          <a:p>
            <a:r>
              <a:rPr lang="en-US" sz="2800" b="1" dirty="0">
                <a:solidFill>
                  <a:srgbClr val="FF0000"/>
                </a:solidFill>
              </a:rPr>
              <a:t>Better</a:t>
            </a:r>
          </a:p>
        </p:txBody>
      </p:sp>
      <p:cxnSp>
        <p:nvCxnSpPr>
          <p:cNvPr id="9" name="Straight Arrow Connector 8">
            <a:extLst>
              <a:ext uri="{FF2B5EF4-FFF2-40B4-BE49-F238E27FC236}">
                <a16:creationId xmlns:a16="http://schemas.microsoft.com/office/drawing/2014/main" id="{D3AB3525-9852-6CA9-200A-17816535AF18}"/>
              </a:ext>
            </a:extLst>
          </p:cNvPr>
          <p:cNvCxnSpPr>
            <a:cxnSpLocks/>
          </p:cNvCxnSpPr>
          <p:nvPr/>
        </p:nvCxnSpPr>
        <p:spPr>
          <a:xfrm flipH="1">
            <a:off x="7422078" y="5367647"/>
            <a:ext cx="1555667" cy="0"/>
          </a:xfrm>
          <a:prstGeom prst="straightConnector1">
            <a:avLst/>
          </a:prstGeom>
          <a:ln w="539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B531DD8-630F-4FA9-04A0-C35DC41D6A5B}"/>
              </a:ext>
            </a:extLst>
          </p:cNvPr>
          <p:cNvSpPr txBox="1"/>
          <p:nvPr/>
        </p:nvSpPr>
        <p:spPr>
          <a:xfrm>
            <a:off x="7834183" y="4844427"/>
            <a:ext cx="1116203" cy="523220"/>
          </a:xfrm>
          <a:prstGeom prst="rect">
            <a:avLst/>
          </a:prstGeom>
          <a:noFill/>
        </p:spPr>
        <p:txBody>
          <a:bodyPr wrap="square" rtlCol="0">
            <a:spAutoFit/>
          </a:bodyPr>
          <a:lstStyle/>
          <a:p>
            <a:r>
              <a:rPr lang="en-US" sz="2800" b="1" dirty="0">
                <a:solidFill>
                  <a:srgbClr val="FF0000"/>
                </a:solidFill>
              </a:rPr>
              <a:t>Better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Future Directions</a:t>
            </a:r>
          </a:p>
        </p:txBody>
      </p:sp>
      <p:sp>
        <p:nvSpPr>
          <p:cNvPr id="3" name="Content Placeholder 2"/>
          <p:cNvSpPr>
            <a:spLocks noGrp="1"/>
          </p:cNvSpPr>
          <p:nvPr>
            <p:ph idx="1"/>
          </p:nvPr>
        </p:nvSpPr>
        <p:spPr/>
        <p:txBody>
          <a:bodyPr/>
          <a:lstStyle/>
          <a:p>
            <a:r>
              <a:rPr dirty="0" err="1"/>
              <a:t>Subband</a:t>
            </a:r>
            <a:r>
              <a:rPr dirty="0"/>
              <a:t>-aware MCS selection</a:t>
            </a:r>
          </a:p>
          <a:p>
            <a:r>
              <a:rPr dirty="0"/>
              <a:t>MU-MIMO interactions</a:t>
            </a:r>
          </a:p>
          <a:p>
            <a:r>
              <a:rPr dirty="0"/>
              <a:t>Finer </a:t>
            </a:r>
            <a:r>
              <a:rPr dirty="0" err="1"/>
              <a:t>subband</a:t>
            </a:r>
            <a:r>
              <a:rPr dirty="0"/>
              <a:t> granularity in 5G</a:t>
            </a:r>
            <a:r>
              <a:rPr lang="en-US" dirty="0"/>
              <a:t> on SDR</a:t>
            </a:r>
            <a:endParaRPr dirty="0"/>
          </a:p>
        </p:txBody>
      </p:sp>
      <p:sp>
        <p:nvSpPr>
          <p:cNvPr id="5" name="TextBox 4">
            <a:extLst>
              <a:ext uri="{FF2B5EF4-FFF2-40B4-BE49-F238E27FC236}">
                <a16:creationId xmlns:a16="http://schemas.microsoft.com/office/drawing/2014/main" id="{0B6DC495-72A3-A06E-7480-9125C419E05F}"/>
              </a:ext>
            </a:extLst>
          </p:cNvPr>
          <p:cNvSpPr txBox="1"/>
          <p:nvPr/>
        </p:nvSpPr>
        <p:spPr>
          <a:xfrm>
            <a:off x="1073232" y="4888468"/>
            <a:ext cx="6997536" cy="369332"/>
          </a:xfrm>
          <a:prstGeom prst="rect">
            <a:avLst/>
          </a:prstGeom>
          <a:noFill/>
        </p:spPr>
        <p:txBody>
          <a:bodyPr wrap="square">
            <a:spAutoFit/>
          </a:bodyPr>
          <a:lstStyle/>
          <a:p>
            <a:r>
              <a:rPr lang="en-US" sz="1800" dirty="0"/>
              <a:t>Open-Source </a:t>
            </a:r>
            <a:r>
              <a:rPr lang="en-US" dirty="0"/>
              <a:t>GitHub Repository </a:t>
            </a:r>
            <a:r>
              <a:rPr lang="en-US" sz="1800" dirty="0"/>
              <a:t>link: </a:t>
            </a:r>
            <a:r>
              <a:rPr lang="en-US" dirty="0">
                <a:hlinkClick r:id="rId3"/>
              </a:rPr>
              <a:t>https://</a:t>
            </a:r>
            <a:r>
              <a:rPr lang="en-US" dirty="0" err="1">
                <a:hlinkClick r:id="rId3"/>
              </a:rPr>
              <a:t>github.com</a:t>
            </a:r>
            <a:r>
              <a:rPr lang="en-US" dirty="0">
                <a:hlinkClick r:id="rId3"/>
              </a:rPr>
              <a:t>/dyzhang1/SAPE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16353</TotalTime>
  <Words>1645</Words>
  <Application>Microsoft Macintosh PowerPoint</Application>
  <PresentationFormat>On-screen Show (4:3)</PresentationFormat>
  <Paragraphs>194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 Math</vt:lpstr>
      <vt:lpstr>Office Theme</vt:lpstr>
      <vt:lpstr>SAPE: Demystifying Sub-band Aware Power Equalization</vt:lpstr>
      <vt:lpstr>Frequency-Selective Fading</vt:lpstr>
      <vt:lpstr>Receiver-side Equalization: A Hidden Cost</vt:lpstr>
      <vt:lpstr>Transmitter side: Water filling</vt:lpstr>
      <vt:lpstr>Why Water Filling Fails in LTE/5G</vt:lpstr>
      <vt:lpstr>What is SAPE?</vt:lpstr>
      <vt:lpstr>SAPE Challenges</vt:lpstr>
      <vt:lpstr>SAPE Algorithm (High Level)</vt:lpstr>
      <vt:lpstr>SAPE Implementation</vt:lpstr>
      <vt:lpstr>srsRAN SDR Testbed</vt:lpstr>
      <vt:lpstr>Indoor NLOS: Tail Performance Matters</vt:lpstr>
      <vt:lpstr>Indoor LOS: No-Regret Behavior</vt:lpstr>
      <vt:lpstr>MATLAB Simulation Setup</vt:lpstr>
      <vt:lpstr>Simulation Results: Throughput vs SNR</vt:lpstr>
      <vt:lpstr>Future Directions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Dingyu Zhang</cp:lastModifiedBy>
  <cp:revision>25</cp:revision>
  <dcterms:created xsi:type="dcterms:W3CDTF">2013-01-27T09:14:16Z</dcterms:created>
  <dcterms:modified xsi:type="dcterms:W3CDTF">2026-02-25T03:46:08Z</dcterms:modified>
  <cp:category/>
</cp:coreProperties>
</file>