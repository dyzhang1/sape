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Lato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Lato-boldItalic.fntdata"/><Relationship Id="rId10" Type="http://schemas.openxmlformats.org/officeDocument/2006/relationships/font" Target="fonts/Lato-italic.fntdata"/><Relationship Id="rId9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La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34483a6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134483a6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32c37e14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32c37e1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0"/>
            <a:ext cx="9112500" cy="39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One layer set up</a:t>
            </a:r>
            <a:endParaRPr sz="100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rgbClr val="5E696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3903413" y="2067075"/>
            <a:ext cx="785100" cy="1887600"/>
          </a:xfrm>
          <a:prstGeom prst="roundRect">
            <a:avLst>
              <a:gd fmla="val 16667" name="adj"/>
            </a:avLst>
          </a:prstGeom>
          <a:solidFill>
            <a:srgbClr val="BFC7CA"/>
          </a:solidFill>
          <a:ln cap="flat" cmpd="sng" w="9525">
            <a:solidFill>
              <a:srgbClr val="5E696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Channel</a:t>
            </a:r>
            <a:endParaRPr b="1"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Varies on different trails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Fixed for each time slot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Noise fixed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804476" y="2205825"/>
            <a:ext cx="635700" cy="16101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1E2D3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E2D31"/>
                </a:solidFill>
                <a:latin typeface="Lato"/>
                <a:ea typeface="Lato"/>
                <a:cs typeface="Lato"/>
                <a:sym typeface="Lato"/>
              </a:rPr>
              <a:t>PD</a:t>
            </a:r>
            <a:r>
              <a:rPr lang="en" sz="1000">
                <a:solidFill>
                  <a:srgbClr val="1E2D31"/>
                </a:solidFill>
                <a:latin typeface="Lato"/>
                <a:ea typeface="Lato"/>
                <a:cs typeface="Lato"/>
                <a:sym typeface="Lato"/>
              </a:rPr>
              <a:t>SCH</a:t>
            </a:r>
            <a:endParaRPr sz="1000">
              <a:solidFill>
                <a:srgbClr val="83D06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61425" y="2205825"/>
            <a:ext cx="635700" cy="16101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E2D31"/>
                </a:solidFill>
                <a:latin typeface="Lato"/>
                <a:ea typeface="Lato"/>
                <a:cs typeface="Lato"/>
                <a:sym typeface="Lato"/>
              </a:rPr>
              <a:t>DL-SCH</a:t>
            </a:r>
            <a:endParaRPr sz="1000">
              <a:solidFill>
                <a:srgbClr val="1E2D3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1564825" y="2205825"/>
            <a:ext cx="785100" cy="16101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E2D31"/>
                </a:solidFill>
                <a:latin typeface="Lato"/>
                <a:ea typeface="Lato"/>
                <a:cs typeface="Lato"/>
                <a:sym typeface="Lato"/>
              </a:rPr>
              <a:t>Precoding</a:t>
            </a:r>
            <a:endParaRPr sz="1000">
              <a:solidFill>
                <a:srgbClr val="1E2D3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3212288" y="2205825"/>
            <a:ext cx="593400" cy="16101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E2D31"/>
                </a:solidFill>
                <a:latin typeface="Lato"/>
                <a:ea typeface="Lato"/>
                <a:cs typeface="Lato"/>
                <a:sym typeface="Lato"/>
              </a:rPr>
              <a:t>OFDM</a:t>
            </a:r>
            <a:endParaRPr sz="1000">
              <a:solidFill>
                <a:srgbClr val="1E2D3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E2D31"/>
                </a:solidFill>
                <a:latin typeface="Lato"/>
                <a:ea typeface="Lato"/>
                <a:cs typeface="Lato"/>
                <a:sym typeface="Lato"/>
              </a:rPr>
              <a:t>Modulation</a:t>
            </a:r>
            <a:endParaRPr sz="1000">
              <a:solidFill>
                <a:srgbClr val="1E2D3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4786250" y="2205825"/>
            <a:ext cx="662700" cy="16101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E2D31"/>
                </a:solidFill>
                <a:latin typeface="Lato"/>
                <a:ea typeface="Lato"/>
                <a:cs typeface="Lato"/>
                <a:sym typeface="Lato"/>
              </a:rPr>
              <a:t>OFDM</a:t>
            </a:r>
            <a:endParaRPr sz="1000">
              <a:solidFill>
                <a:srgbClr val="1E2D3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E2D31"/>
                </a:solidFill>
                <a:latin typeface="Lato"/>
                <a:ea typeface="Lato"/>
                <a:cs typeface="Lato"/>
                <a:sym typeface="Lato"/>
              </a:rPr>
              <a:t>Demodulation</a:t>
            </a:r>
            <a:endParaRPr sz="1000">
              <a:solidFill>
                <a:srgbClr val="1E2D3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6415850" y="2205825"/>
            <a:ext cx="802800" cy="16101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1E2D3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E2D31"/>
                </a:solidFill>
                <a:latin typeface="Lato"/>
                <a:ea typeface="Lato"/>
                <a:cs typeface="Lato"/>
                <a:sym typeface="Lato"/>
              </a:rPr>
              <a:t>DMRS Based</a:t>
            </a:r>
            <a:endParaRPr sz="1000">
              <a:solidFill>
                <a:srgbClr val="1E2D3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E2D31"/>
                </a:solidFill>
                <a:latin typeface="Lato"/>
                <a:ea typeface="Lato"/>
                <a:cs typeface="Lato"/>
                <a:sym typeface="Lato"/>
              </a:rPr>
              <a:t>Channel Estimation</a:t>
            </a:r>
            <a:endParaRPr sz="1000">
              <a:solidFill>
                <a:srgbClr val="83D06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7400250" y="2205825"/>
            <a:ext cx="717000" cy="16101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E2D31"/>
                </a:solidFill>
                <a:latin typeface="Lato"/>
                <a:ea typeface="Lato"/>
                <a:cs typeface="Lato"/>
                <a:sym typeface="Lato"/>
              </a:rPr>
              <a:t>PDSCH-</a:t>
            </a:r>
            <a:endParaRPr sz="1000">
              <a:solidFill>
                <a:srgbClr val="1E2D3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E2D31"/>
                </a:solidFill>
                <a:latin typeface="Lato"/>
                <a:ea typeface="Lato"/>
                <a:cs typeface="Lato"/>
                <a:sym typeface="Lato"/>
              </a:rPr>
              <a:t>decoding</a:t>
            </a:r>
            <a:endParaRPr sz="1000">
              <a:solidFill>
                <a:srgbClr val="1E2D3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8298850" y="2205825"/>
            <a:ext cx="717000" cy="16101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E2D31"/>
                </a:solidFill>
                <a:latin typeface="Lato"/>
                <a:ea typeface="Lato"/>
                <a:cs typeface="Lato"/>
                <a:sym typeface="Lato"/>
              </a:rPr>
              <a:t>DL-SCH decoding</a:t>
            </a:r>
            <a:endParaRPr sz="1000">
              <a:solidFill>
                <a:srgbClr val="1E2D3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4" name="Google Shape;64;p13"/>
          <p:cNvCxnSpPr>
            <a:stCxn id="57" idx="3"/>
            <a:endCxn id="56" idx="1"/>
          </p:cNvCxnSpPr>
          <p:nvPr/>
        </p:nvCxnSpPr>
        <p:spPr>
          <a:xfrm>
            <a:off x="697125" y="3010875"/>
            <a:ext cx="10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" name="Google Shape;65;p13"/>
          <p:cNvCxnSpPr>
            <a:stCxn id="56" idx="3"/>
            <a:endCxn id="58" idx="1"/>
          </p:cNvCxnSpPr>
          <p:nvPr/>
        </p:nvCxnSpPr>
        <p:spPr>
          <a:xfrm>
            <a:off x="1440176" y="3010875"/>
            <a:ext cx="124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" name="Google Shape;66;p13"/>
          <p:cNvCxnSpPr>
            <a:stCxn id="59" idx="3"/>
            <a:endCxn id="55" idx="1"/>
          </p:cNvCxnSpPr>
          <p:nvPr/>
        </p:nvCxnSpPr>
        <p:spPr>
          <a:xfrm>
            <a:off x="3805688" y="3010875"/>
            <a:ext cx="97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" name="Google Shape;67;p13"/>
          <p:cNvCxnSpPr>
            <a:stCxn id="55" idx="3"/>
            <a:endCxn id="60" idx="1"/>
          </p:cNvCxnSpPr>
          <p:nvPr/>
        </p:nvCxnSpPr>
        <p:spPr>
          <a:xfrm>
            <a:off x="4688513" y="3010875"/>
            <a:ext cx="97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" name="Google Shape;68;p13"/>
          <p:cNvCxnSpPr>
            <a:stCxn id="61" idx="3"/>
            <a:endCxn id="62" idx="1"/>
          </p:cNvCxnSpPr>
          <p:nvPr/>
        </p:nvCxnSpPr>
        <p:spPr>
          <a:xfrm>
            <a:off x="7218650" y="3010875"/>
            <a:ext cx="181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" name="Google Shape;69;p13"/>
          <p:cNvCxnSpPr>
            <a:stCxn id="62" idx="3"/>
            <a:endCxn id="63" idx="1"/>
          </p:cNvCxnSpPr>
          <p:nvPr/>
        </p:nvCxnSpPr>
        <p:spPr>
          <a:xfrm>
            <a:off x="8117250" y="3010875"/>
            <a:ext cx="181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" name="Google Shape;70;p13"/>
          <p:cNvSpPr/>
          <p:nvPr/>
        </p:nvSpPr>
        <p:spPr>
          <a:xfrm>
            <a:off x="1598875" y="1383850"/>
            <a:ext cx="717000" cy="55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highlight>
                  <a:schemeClr val="accent6"/>
                </a:highlight>
              </a:rPr>
              <a:t>DMRS B</a:t>
            </a:r>
            <a:r>
              <a:rPr lang="en" sz="900">
                <a:highlight>
                  <a:schemeClr val="accent6"/>
                </a:highlight>
              </a:rPr>
              <a:t>ased wtx</a:t>
            </a:r>
            <a:r>
              <a:rPr lang="en" sz="900"/>
              <a:t>  </a:t>
            </a:r>
            <a:endParaRPr sz="900"/>
          </a:p>
        </p:txBody>
      </p:sp>
      <p:sp>
        <p:nvSpPr>
          <p:cNvPr id="71" name="Google Shape;71;p13"/>
          <p:cNvSpPr/>
          <p:nvPr/>
        </p:nvSpPr>
        <p:spPr>
          <a:xfrm>
            <a:off x="5601038" y="2205825"/>
            <a:ext cx="662700" cy="16101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E2D31"/>
                </a:solidFill>
                <a:latin typeface="Lato"/>
                <a:ea typeface="Lato"/>
                <a:cs typeface="Lato"/>
                <a:sym typeface="Lato"/>
              </a:rPr>
              <a:t>Equalization</a:t>
            </a:r>
            <a:endParaRPr sz="1000">
              <a:solidFill>
                <a:srgbClr val="1E2D3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2" name="Google Shape;72;p13"/>
          <p:cNvCxnSpPr>
            <a:endCxn id="71" idx="1"/>
          </p:cNvCxnSpPr>
          <p:nvPr/>
        </p:nvCxnSpPr>
        <p:spPr>
          <a:xfrm>
            <a:off x="5448938" y="3010875"/>
            <a:ext cx="15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" name="Google Shape;73;p13"/>
          <p:cNvCxnSpPr>
            <a:stCxn id="71" idx="3"/>
            <a:endCxn id="61" idx="1"/>
          </p:cNvCxnSpPr>
          <p:nvPr/>
        </p:nvCxnSpPr>
        <p:spPr>
          <a:xfrm>
            <a:off x="6263738" y="3010875"/>
            <a:ext cx="15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" name="Google Shape;74;p13"/>
          <p:cNvSpPr/>
          <p:nvPr/>
        </p:nvSpPr>
        <p:spPr>
          <a:xfrm>
            <a:off x="2449750" y="2205825"/>
            <a:ext cx="662700" cy="16101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Predistortion</a:t>
            </a:r>
            <a:endParaRPr sz="10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5" name="Google Shape;75;p13"/>
          <p:cNvCxnSpPr>
            <a:stCxn id="74" idx="3"/>
            <a:endCxn id="59" idx="1"/>
          </p:cNvCxnSpPr>
          <p:nvPr/>
        </p:nvCxnSpPr>
        <p:spPr>
          <a:xfrm>
            <a:off x="3112450" y="3010875"/>
            <a:ext cx="99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" name="Google Shape;76;p13"/>
          <p:cNvCxnSpPr>
            <a:stCxn id="58" idx="3"/>
            <a:endCxn id="74" idx="1"/>
          </p:cNvCxnSpPr>
          <p:nvPr/>
        </p:nvCxnSpPr>
        <p:spPr>
          <a:xfrm>
            <a:off x="2349925" y="3010875"/>
            <a:ext cx="99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" name="Google Shape;77;p13"/>
          <p:cNvCxnSpPr>
            <a:stCxn id="70" idx="2"/>
            <a:endCxn id="58" idx="0"/>
          </p:cNvCxnSpPr>
          <p:nvPr/>
        </p:nvCxnSpPr>
        <p:spPr>
          <a:xfrm>
            <a:off x="1957375" y="1943650"/>
            <a:ext cx="0" cy="26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" name="Google Shape;78;p13"/>
          <p:cNvSpPr/>
          <p:nvPr/>
        </p:nvSpPr>
        <p:spPr>
          <a:xfrm>
            <a:off x="585781" y="4544150"/>
            <a:ext cx="854400" cy="28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DMRS </a:t>
            </a:r>
            <a:r>
              <a:rPr lang="en" sz="1000"/>
              <a:t>precoding</a:t>
            </a:r>
            <a:endParaRPr sz="1000"/>
          </a:p>
        </p:txBody>
      </p:sp>
      <p:sp>
        <p:nvSpPr>
          <p:cNvPr id="79" name="Google Shape;79;p13"/>
          <p:cNvSpPr/>
          <p:nvPr/>
        </p:nvSpPr>
        <p:spPr>
          <a:xfrm>
            <a:off x="1629613" y="4548450"/>
            <a:ext cx="924600" cy="28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PTRS precoding</a:t>
            </a:r>
            <a:endParaRPr sz="1000"/>
          </a:p>
        </p:txBody>
      </p:sp>
      <p:sp>
        <p:nvSpPr>
          <p:cNvPr id="80" name="Google Shape;80;p13"/>
          <p:cNvSpPr/>
          <p:nvPr/>
        </p:nvSpPr>
        <p:spPr>
          <a:xfrm>
            <a:off x="2735200" y="4544150"/>
            <a:ext cx="854400" cy="28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CSI-RS P</a:t>
            </a:r>
            <a:r>
              <a:rPr lang="en" sz="1000"/>
              <a:t>recoding</a:t>
            </a:r>
            <a:endParaRPr sz="1000"/>
          </a:p>
        </p:txBody>
      </p:sp>
      <p:cxnSp>
        <p:nvCxnSpPr>
          <p:cNvPr id="81" name="Google Shape;81;p13"/>
          <p:cNvCxnSpPr>
            <a:stCxn id="80" idx="0"/>
          </p:cNvCxnSpPr>
          <p:nvPr/>
        </p:nvCxnSpPr>
        <p:spPr>
          <a:xfrm rot="10800000">
            <a:off x="3161200" y="3778850"/>
            <a:ext cx="1200" cy="7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" name="Google Shape;82;p13"/>
          <p:cNvSpPr/>
          <p:nvPr/>
        </p:nvSpPr>
        <p:spPr>
          <a:xfrm>
            <a:off x="4725050" y="317775"/>
            <a:ext cx="785100" cy="11727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1E2D3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E2D31"/>
                </a:solidFill>
                <a:latin typeface="Lato"/>
                <a:ea typeface="Lato"/>
                <a:cs typeface="Lato"/>
                <a:sym typeface="Lato"/>
              </a:rPr>
              <a:t>CSI-RS</a:t>
            </a:r>
            <a:endParaRPr sz="1000">
              <a:solidFill>
                <a:srgbClr val="1E2D3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E2D31"/>
                </a:solidFill>
                <a:latin typeface="Lato"/>
                <a:ea typeface="Lato"/>
                <a:cs typeface="Lato"/>
                <a:sym typeface="Lato"/>
              </a:rPr>
              <a:t>Based</a:t>
            </a:r>
            <a:endParaRPr sz="1000">
              <a:solidFill>
                <a:srgbClr val="1E2D3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E2D31"/>
                </a:solidFill>
                <a:latin typeface="Lato"/>
                <a:ea typeface="Lato"/>
                <a:cs typeface="Lato"/>
                <a:sym typeface="Lato"/>
              </a:rPr>
              <a:t>Channel Estimation</a:t>
            </a:r>
            <a:endParaRPr sz="1000">
              <a:solidFill>
                <a:srgbClr val="83D06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3" name="Google Shape;83;p13"/>
          <p:cNvSpPr/>
          <p:nvPr/>
        </p:nvSpPr>
        <p:spPr>
          <a:xfrm>
            <a:off x="2353900" y="474075"/>
            <a:ext cx="854400" cy="8601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Subband</a:t>
            </a:r>
            <a:endParaRPr sz="10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SNR</a:t>
            </a:r>
            <a:endParaRPr sz="10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4" name="Google Shape;84;p13"/>
          <p:cNvCxnSpPr>
            <a:stCxn id="83" idx="2"/>
            <a:endCxn id="74" idx="0"/>
          </p:cNvCxnSpPr>
          <p:nvPr/>
        </p:nvCxnSpPr>
        <p:spPr>
          <a:xfrm>
            <a:off x="2781100" y="1334175"/>
            <a:ext cx="0" cy="87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" name="Google Shape;85;p13"/>
          <p:cNvSpPr/>
          <p:nvPr/>
        </p:nvSpPr>
        <p:spPr>
          <a:xfrm>
            <a:off x="859375" y="1383850"/>
            <a:ext cx="525900" cy="55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MCS</a:t>
            </a:r>
            <a:r>
              <a:rPr lang="en" sz="900"/>
              <a:t>  </a:t>
            </a:r>
            <a:endParaRPr sz="900"/>
          </a:p>
        </p:txBody>
      </p:sp>
      <p:cxnSp>
        <p:nvCxnSpPr>
          <p:cNvPr id="86" name="Google Shape;86;p13"/>
          <p:cNvCxnSpPr>
            <a:stCxn id="85" idx="2"/>
            <a:endCxn id="56" idx="0"/>
          </p:cNvCxnSpPr>
          <p:nvPr/>
        </p:nvCxnSpPr>
        <p:spPr>
          <a:xfrm>
            <a:off x="1122325" y="1943650"/>
            <a:ext cx="0" cy="26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" name="Google Shape;87;p13"/>
          <p:cNvCxnSpPr>
            <a:stCxn id="82" idx="1"/>
            <a:endCxn id="83" idx="3"/>
          </p:cNvCxnSpPr>
          <p:nvPr/>
        </p:nvCxnSpPr>
        <p:spPr>
          <a:xfrm rot="10800000">
            <a:off x="3208250" y="904125"/>
            <a:ext cx="1516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" name="Google Shape;88;p13"/>
          <p:cNvCxnSpPr>
            <a:stCxn id="60" idx="0"/>
            <a:endCxn id="82" idx="2"/>
          </p:cNvCxnSpPr>
          <p:nvPr/>
        </p:nvCxnSpPr>
        <p:spPr>
          <a:xfrm rot="10800000">
            <a:off x="5117600" y="1490325"/>
            <a:ext cx="0" cy="71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" name="Google Shape;89;p13"/>
          <p:cNvCxnSpPr>
            <a:stCxn id="78" idx="0"/>
            <a:endCxn id="79" idx="0"/>
          </p:cNvCxnSpPr>
          <p:nvPr/>
        </p:nvCxnSpPr>
        <p:spPr>
          <a:xfrm flipH="1" rot="-5400000">
            <a:off x="1550281" y="4006850"/>
            <a:ext cx="4200" cy="1078800"/>
          </a:xfrm>
          <a:prstGeom prst="bentConnector3">
            <a:avLst>
              <a:gd fmla="val -566964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" name="Google Shape;90;p13"/>
          <p:cNvCxnSpPr>
            <a:endCxn id="58" idx="2"/>
          </p:cNvCxnSpPr>
          <p:nvPr/>
        </p:nvCxnSpPr>
        <p:spPr>
          <a:xfrm flipH="1" rot="10800000">
            <a:off x="1552975" y="3815925"/>
            <a:ext cx="404400" cy="4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4638081" y="1998086"/>
            <a:ext cx="851100" cy="1510800"/>
          </a:xfrm>
          <a:prstGeom prst="roundRect">
            <a:avLst>
              <a:gd fmla="val 16667" name="adj"/>
            </a:avLst>
          </a:prstGeom>
          <a:solidFill>
            <a:srgbClr val="BFC7CA"/>
          </a:solidFill>
          <a:ln cap="flat" cmpd="sng" w="8850">
            <a:solidFill>
              <a:srgbClr val="5E696C"/>
            </a:solidFill>
            <a:prstDash val="solid"/>
            <a:round/>
            <a:headEnd len="sm" w="sm" type="none"/>
            <a:tailEnd len="sm" w="sm" type="none"/>
          </a:ln>
          <a:effectLst>
            <a:outerShdw blurRad="53083" rotWithShape="0" algn="bl" dir="5400000" dist="17694">
              <a:srgbClr val="000000">
                <a:alpha val="50000"/>
              </a:srgbClr>
            </a:outerShdw>
          </a:effectLst>
        </p:spPr>
        <p:txBody>
          <a:bodyPr anchorCtr="0" anchor="ctr" bIns="84925" lIns="84925" spcFirstLastPara="1" rIns="84925" wrap="square" tIns="84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7">
                <a:latin typeface="Lato"/>
                <a:ea typeface="Lato"/>
                <a:cs typeface="Lato"/>
                <a:sym typeface="Lato"/>
              </a:rPr>
              <a:t>Channel</a:t>
            </a:r>
            <a:endParaRPr sz="1207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934956" y="2359195"/>
            <a:ext cx="729300" cy="798900"/>
          </a:xfrm>
          <a:prstGeom prst="rect">
            <a:avLst/>
          </a:prstGeom>
          <a:solidFill>
            <a:srgbClr val="EEEEEE"/>
          </a:solidFill>
          <a:ln cap="flat" cmpd="sng" w="8850">
            <a:solidFill>
              <a:srgbClr val="1E2D31"/>
            </a:solidFill>
            <a:prstDash val="solid"/>
            <a:round/>
            <a:headEnd len="sm" w="sm" type="none"/>
            <a:tailEnd len="sm" w="sm" type="none"/>
          </a:ln>
          <a:effectLst>
            <a:outerShdw blurRad="53083" rotWithShape="0" algn="bl" dir="5400000" dist="17694">
              <a:srgbClr val="000000">
                <a:alpha val="50000"/>
              </a:srgbClr>
            </a:outerShdw>
          </a:effectLst>
        </p:spPr>
        <p:txBody>
          <a:bodyPr anchorCtr="0" anchor="ctr" bIns="84925" lIns="84925" spcFirstLastPara="1" rIns="84925" wrap="square" tIns="84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7">
                <a:solidFill>
                  <a:srgbClr val="1E2D31"/>
                </a:solidFill>
                <a:latin typeface="Lato"/>
                <a:ea typeface="Lato"/>
                <a:cs typeface="Lato"/>
                <a:sym typeface="Lato"/>
              </a:rPr>
              <a:t>PDSCH</a:t>
            </a:r>
            <a:endParaRPr sz="1207">
              <a:solidFill>
                <a:srgbClr val="83D06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38338" y="2359195"/>
            <a:ext cx="729300" cy="798900"/>
          </a:xfrm>
          <a:prstGeom prst="rect">
            <a:avLst/>
          </a:prstGeom>
          <a:solidFill>
            <a:srgbClr val="EEEEEE"/>
          </a:solidFill>
          <a:ln cap="flat" cmpd="sng" w="88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3083" rotWithShape="0" algn="bl" dir="5400000" dist="17694">
              <a:srgbClr val="000000">
                <a:alpha val="50000"/>
              </a:srgbClr>
            </a:outerShdw>
          </a:effectLst>
        </p:spPr>
        <p:txBody>
          <a:bodyPr anchorCtr="0" anchor="ctr" bIns="84925" lIns="84925" spcFirstLastPara="1" rIns="84925" wrap="square" tIns="84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7">
                <a:solidFill>
                  <a:srgbClr val="1E2D31"/>
                </a:solidFill>
                <a:latin typeface="Lato"/>
                <a:ea typeface="Lato"/>
                <a:cs typeface="Lato"/>
                <a:sym typeface="Lato"/>
              </a:rPr>
              <a:t>DL-SCH</a:t>
            </a:r>
            <a:endParaRPr sz="1207">
              <a:solidFill>
                <a:srgbClr val="1E2D3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1816377" y="2356676"/>
            <a:ext cx="887700" cy="798900"/>
          </a:xfrm>
          <a:prstGeom prst="rect">
            <a:avLst/>
          </a:prstGeom>
          <a:solidFill>
            <a:srgbClr val="EEEEEE"/>
          </a:solidFill>
          <a:ln cap="flat" cmpd="sng" w="88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3083" rotWithShape="0" algn="bl" dir="5400000" dist="17694">
              <a:srgbClr val="000000">
                <a:alpha val="50000"/>
              </a:srgbClr>
            </a:outerShdw>
          </a:effectLst>
        </p:spPr>
        <p:txBody>
          <a:bodyPr anchorCtr="0" anchor="ctr" bIns="84925" lIns="84925" spcFirstLastPara="1" rIns="84925" wrap="square" tIns="84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7">
                <a:solidFill>
                  <a:srgbClr val="1E2D31"/>
                </a:solidFill>
                <a:latin typeface="Lato"/>
                <a:ea typeface="Lato"/>
                <a:cs typeface="Lato"/>
                <a:sym typeface="Lato"/>
              </a:rPr>
              <a:t>Precoding</a:t>
            </a:r>
            <a:endParaRPr sz="1207">
              <a:solidFill>
                <a:srgbClr val="1E2D3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3858194" y="2208143"/>
            <a:ext cx="637500" cy="1089300"/>
          </a:xfrm>
          <a:prstGeom prst="rect">
            <a:avLst/>
          </a:prstGeom>
          <a:solidFill>
            <a:srgbClr val="EEEEEE"/>
          </a:solidFill>
          <a:ln cap="flat" cmpd="sng" w="88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3083" rotWithShape="0" algn="bl" dir="5400000" dist="17694">
              <a:srgbClr val="000000">
                <a:alpha val="50000"/>
              </a:srgbClr>
            </a:outerShdw>
          </a:effectLst>
        </p:spPr>
        <p:txBody>
          <a:bodyPr anchorCtr="0" anchor="ctr" bIns="84925" lIns="84925" spcFirstLastPara="1" rIns="84925" wrap="square" tIns="84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7">
                <a:solidFill>
                  <a:srgbClr val="1E2D31"/>
                </a:solidFill>
                <a:latin typeface="Lato"/>
                <a:ea typeface="Lato"/>
                <a:cs typeface="Lato"/>
                <a:sym typeface="Lato"/>
              </a:rPr>
              <a:t>OFDM</a:t>
            </a:r>
            <a:endParaRPr sz="1207">
              <a:solidFill>
                <a:srgbClr val="1E2D3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7">
                <a:solidFill>
                  <a:srgbClr val="1E2D31"/>
                </a:solidFill>
                <a:latin typeface="Lato"/>
                <a:ea typeface="Lato"/>
                <a:cs typeface="Lato"/>
                <a:sym typeface="Lato"/>
              </a:rPr>
              <a:t>Modulation</a:t>
            </a:r>
            <a:endParaRPr sz="1207">
              <a:solidFill>
                <a:srgbClr val="1E2D3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5609227" y="2208886"/>
            <a:ext cx="729300" cy="1089300"/>
          </a:xfrm>
          <a:prstGeom prst="rect">
            <a:avLst/>
          </a:prstGeom>
          <a:solidFill>
            <a:srgbClr val="EEEEEE"/>
          </a:solidFill>
          <a:ln cap="flat" cmpd="sng" w="88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3083" rotWithShape="0" algn="bl" dir="5400000" dist="17694">
              <a:srgbClr val="000000">
                <a:alpha val="50000"/>
              </a:srgbClr>
            </a:outerShdw>
          </a:effectLst>
        </p:spPr>
        <p:txBody>
          <a:bodyPr anchorCtr="0" anchor="ctr" bIns="84925" lIns="84925" spcFirstLastPara="1" rIns="84925" wrap="square" tIns="84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7">
                <a:solidFill>
                  <a:srgbClr val="1E2D31"/>
                </a:solidFill>
                <a:latin typeface="Lato"/>
                <a:ea typeface="Lato"/>
                <a:cs typeface="Lato"/>
                <a:sym typeface="Lato"/>
              </a:rPr>
              <a:t>OFDM</a:t>
            </a:r>
            <a:endParaRPr sz="1207">
              <a:solidFill>
                <a:srgbClr val="1E2D3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7">
                <a:solidFill>
                  <a:srgbClr val="1E2D31"/>
                </a:solidFill>
                <a:latin typeface="Lato"/>
                <a:ea typeface="Lato"/>
                <a:cs typeface="Lato"/>
                <a:sym typeface="Lato"/>
              </a:rPr>
              <a:t>Demodulation</a:t>
            </a:r>
            <a:endParaRPr sz="1207">
              <a:solidFill>
                <a:srgbClr val="1E2D3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7364463" y="2359195"/>
            <a:ext cx="793500" cy="798900"/>
          </a:xfrm>
          <a:prstGeom prst="rect">
            <a:avLst/>
          </a:prstGeom>
          <a:solidFill>
            <a:srgbClr val="EEEEEE"/>
          </a:solidFill>
          <a:ln cap="flat" cmpd="sng" w="88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3083" rotWithShape="0" algn="bl" dir="5400000" dist="17694">
              <a:srgbClr val="000000">
                <a:alpha val="50000"/>
              </a:srgbClr>
            </a:outerShdw>
          </a:effectLst>
        </p:spPr>
        <p:txBody>
          <a:bodyPr anchorCtr="0" anchor="ctr" bIns="84925" lIns="84925" spcFirstLastPara="1" rIns="84925" wrap="square" tIns="84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7">
                <a:solidFill>
                  <a:srgbClr val="1E2D31"/>
                </a:solidFill>
                <a:latin typeface="Lato"/>
                <a:ea typeface="Lato"/>
                <a:cs typeface="Lato"/>
                <a:sym typeface="Lato"/>
              </a:rPr>
              <a:t>PDSCH-</a:t>
            </a:r>
            <a:endParaRPr sz="1207">
              <a:solidFill>
                <a:srgbClr val="1E2D3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7">
                <a:solidFill>
                  <a:srgbClr val="1E2D31"/>
                </a:solidFill>
                <a:latin typeface="Lato"/>
                <a:ea typeface="Lato"/>
                <a:cs typeface="Lato"/>
                <a:sym typeface="Lato"/>
              </a:rPr>
              <a:t>decoding</a:t>
            </a:r>
            <a:endParaRPr sz="1207">
              <a:solidFill>
                <a:srgbClr val="1E2D3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8312168" y="2359195"/>
            <a:ext cx="793500" cy="798900"/>
          </a:xfrm>
          <a:prstGeom prst="rect">
            <a:avLst/>
          </a:prstGeom>
          <a:solidFill>
            <a:srgbClr val="EEEEEE"/>
          </a:solidFill>
          <a:ln cap="flat" cmpd="sng" w="88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3083" rotWithShape="0" algn="bl" dir="5400000" dist="17694">
              <a:srgbClr val="000000">
                <a:alpha val="50000"/>
              </a:srgbClr>
            </a:outerShdw>
          </a:effectLst>
        </p:spPr>
        <p:txBody>
          <a:bodyPr anchorCtr="0" anchor="ctr" bIns="84925" lIns="84925" spcFirstLastPara="1" rIns="84925" wrap="square" tIns="84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7">
                <a:solidFill>
                  <a:srgbClr val="1E2D31"/>
                </a:solidFill>
                <a:latin typeface="Lato"/>
                <a:ea typeface="Lato"/>
                <a:cs typeface="Lato"/>
                <a:sym typeface="Lato"/>
              </a:rPr>
              <a:t>DL-SCH decoding</a:t>
            </a:r>
            <a:endParaRPr sz="1207">
              <a:solidFill>
                <a:srgbClr val="1E2D3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3" name="Google Shape;103;p14"/>
          <p:cNvCxnSpPr>
            <a:stCxn id="97" idx="3"/>
            <a:endCxn id="96" idx="1"/>
          </p:cNvCxnSpPr>
          <p:nvPr/>
        </p:nvCxnSpPr>
        <p:spPr>
          <a:xfrm>
            <a:off x="767638" y="2758645"/>
            <a:ext cx="167400" cy="0"/>
          </a:xfrm>
          <a:prstGeom prst="straightConnector1">
            <a:avLst/>
          </a:prstGeom>
          <a:noFill/>
          <a:ln cap="flat" cmpd="sng" w="8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" name="Google Shape;104;p14"/>
          <p:cNvCxnSpPr>
            <a:stCxn id="96" idx="3"/>
            <a:endCxn id="98" idx="1"/>
          </p:cNvCxnSpPr>
          <p:nvPr/>
        </p:nvCxnSpPr>
        <p:spPr>
          <a:xfrm flipH="1" rot="10800000">
            <a:off x="1664256" y="2756245"/>
            <a:ext cx="152100" cy="2400"/>
          </a:xfrm>
          <a:prstGeom prst="straightConnector1">
            <a:avLst/>
          </a:prstGeom>
          <a:noFill/>
          <a:ln cap="flat" cmpd="sng" w="8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" name="Google Shape;105;p14"/>
          <p:cNvCxnSpPr>
            <a:stCxn id="99" idx="3"/>
            <a:endCxn id="95" idx="1"/>
          </p:cNvCxnSpPr>
          <p:nvPr/>
        </p:nvCxnSpPr>
        <p:spPr>
          <a:xfrm>
            <a:off x="4495694" y="2752793"/>
            <a:ext cx="142500" cy="600"/>
          </a:xfrm>
          <a:prstGeom prst="straightConnector1">
            <a:avLst/>
          </a:prstGeom>
          <a:noFill/>
          <a:ln cap="flat" cmpd="sng" w="8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" name="Google Shape;106;p14"/>
          <p:cNvCxnSpPr>
            <a:stCxn id="95" idx="3"/>
            <a:endCxn id="100" idx="1"/>
          </p:cNvCxnSpPr>
          <p:nvPr/>
        </p:nvCxnSpPr>
        <p:spPr>
          <a:xfrm>
            <a:off x="5489181" y="2753486"/>
            <a:ext cx="120000" cy="0"/>
          </a:xfrm>
          <a:prstGeom prst="straightConnector1">
            <a:avLst/>
          </a:prstGeom>
          <a:noFill/>
          <a:ln cap="flat" cmpd="sng" w="8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" name="Google Shape;107;p14"/>
          <p:cNvCxnSpPr>
            <a:stCxn id="101" idx="3"/>
            <a:endCxn id="102" idx="1"/>
          </p:cNvCxnSpPr>
          <p:nvPr/>
        </p:nvCxnSpPr>
        <p:spPr>
          <a:xfrm>
            <a:off x="8157963" y="2758645"/>
            <a:ext cx="154200" cy="0"/>
          </a:xfrm>
          <a:prstGeom prst="straightConnector1">
            <a:avLst/>
          </a:prstGeom>
          <a:noFill/>
          <a:ln cap="flat" cmpd="sng" w="8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" name="Google Shape;108;p14"/>
          <p:cNvSpPr/>
          <p:nvPr/>
        </p:nvSpPr>
        <p:spPr>
          <a:xfrm>
            <a:off x="6481197" y="2354063"/>
            <a:ext cx="729300" cy="798900"/>
          </a:xfrm>
          <a:prstGeom prst="rect">
            <a:avLst/>
          </a:prstGeom>
          <a:solidFill>
            <a:srgbClr val="EEEEEE"/>
          </a:solidFill>
          <a:ln cap="flat" cmpd="sng" w="88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3083" rotWithShape="0" algn="bl" dir="5400000" dist="17694">
              <a:srgbClr val="000000">
                <a:alpha val="50000"/>
              </a:srgbClr>
            </a:outerShdw>
          </a:effectLst>
        </p:spPr>
        <p:txBody>
          <a:bodyPr anchorCtr="0" anchor="ctr" bIns="84925" lIns="84925" spcFirstLastPara="1" rIns="84925" wrap="square" tIns="84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7">
                <a:solidFill>
                  <a:srgbClr val="1E2D31"/>
                </a:solidFill>
                <a:latin typeface="Lato"/>
                <a:ea typeface="Lato"/>
                <a:cs typeface="Lato"/>
                <a:sym typeface="Lato"/>
              </a:rPr>
              <a:t>Equalization</a:t>
            </a:r>
            <a:endParaRPr sz="1207">
              <a:solidFill>
                <a:srgbClr val="1E2D3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9" name="Google Shape;109;p14"/>
          <p:cNvCxnSpPr>
            <a:stCxn id="100" idx="3"/>
            <a:endCxn id="108" idx="1"/>
          </p:cNvCxnSpPr>
          <p:nvPr/>
        </p:nvCxnSpPr>
        <p:spPr>
          <a:xfrm>
            <a:off x="6338527" y="2753536"/>
            <a:ext cx="142800" cy="0"/>
          </a:xfrm>
          <a:prstGeom prst="straightConnector1">
            <a:avLst/>
          </a:prstGeom>
          <a:noFill/>
          <a:ln cap="flat" cmpd="sng" w="8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" name="Google Shape;110;p14"/>
          <p:cNvCxnSpPr>
            <a:stCxn id="108" idx="3"/>
            <a:endCxn id="101" idx="1"/>
          </p:cNvCxnSpPr>
          <p:nvPr/>
        </p:nvCxnSpPr>
        <p:spPr>
          <a:xfrm>
            <a:off x="7210497" y="2753513"/>
            <a:ext cx="153900" cy="5100"/>
          </a:xfrm>
          <a:prstGeom prst="straightConnector1">
            <a:avLst/>
          </a:prstGeom>
          <a:noFill/>
          <a:ln cap="flat" cmpd="sng" w="8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" name="Google Shape;111;p14"/>
          <p:cNvSpPr/>
          <p:nvPr/>
        </p:nvSpPr>
        <p:spPr>
          <a:xfrm>
            <a:off x="2828380" y="2353320"/>
            <a:ext cx="887700" cy="798900"/>
          </a:xfrm>
          <a:prstGeom prst="rect">
            <a:avLst/>
          </a:prstGeom>
          <a:solidFill>
            <a:srgbClr val="FF9900"/>
          </a:solidFill>
          <a:ln cap="flat" cmpd="sng" w="176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3083" rotWithShape="0" algn="bl" dir="5400000" dist="17694">
              <a:srgbClr val="000000">
                <a:alpha val="50000"/>
              </a:srgbClr>
            </a:outerShdw>
          </a:effectLst>
        </p:spPr>
        <p:txBody>
          <a:bodyPr anchorCtr="0" anchor="ctr" bIns="84925" lIns="84925" spcFirstLastPara="1" rIns="84925" wrap="square" tIns="84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7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Pre- distortion</a:t>
            </a:r>
            <a:endParaRPr b="1" sz="1207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2" name="Google Shape;112;p14"/>
          <p:cNvCxnSpPr>
            <a:stCxn id="111" idx="3"/>
            <a:endCxn id="99" idx="1"/>
          </p:cNvCxnSpPr>
          <p:nvPr/>
        </p:nvCxnSpPr>
        <p:spPr>
          <a:xfrm>
            <a:off x="3716080" y="2752770"/>
            <a:ext cx="142200" cy="0"/>
          </a:xfrm>
          <a:prstGeom prst="straightConnector1">
            <a:avLst/>
          </a:prstGeom>
          <a:noFill/>
          <a:ln cap="flat" cmpd="sng" w="8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" name="Google Shape;113;p14"/>
          <p:cNvCxnSpPr>
            <a:stCxn id="98" idx="3"/>
            <a:endCxn id="111" idx="1"/>
          </p:cNvCxnSpPr>
          <p:nvPr/>
        </p:nvCxnSpPr>
        <p:spPr>
          <a:xfrm flipH="1" rot="10800000">
            <a:off x="2704077" y="2752826"/>
            <a:ext cx="124200" cy="3300"/>
          </a:xfrm>
          <a:prstGeom prst="straightConnector1">
            <a:avLst/>
          </a:prstGeom>
          <a:noFill/>
          <a:ln cap="flat" cmpd="sng" w="8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" name="Google Shape;114;p14"/>
          <p:cNvSpPr/>
          <p:nvPr/>
        </p:nvSpPr>
        <p:spPr>
          <a:xfrm>
            <a:off x="1270708" y="3671297"/>
            <a:ext cx="922200" cy="411900"/>
          </a:xfrm>
          <a:prstGeom prst="rect">
            <a:avLst/>
          </a:prstGeom>
          <a:solidFill>
            <a:schemeClr val="lt2"/>
          </a:solidFill>
          <a:ln cap="flat" cmpd="sng" w="8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925" lIns="84925" spcFirstLastPara="1" rIns="84925" wrap="square" tIns="84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7"/>
              <a:t>DMRS precoding</a:t>
            </a:r>
            <a:endParaRPr sz="1207"/>
          </a:p>
        </p:txBody>
      </p:sp>
      <p:sp>
        <p:nvSpPr>
          <p:cNvPr id="115" name="Google Shape;115;p14"/>
          <p:cNvSpPr/>
          <p:nvPr/>
        </p:nvSpPr>
        <p:spPr>
          <a:xfrm>
            <a:off x="2273179" y="3671390"/>
            <a:ext cx="976500" cy="411900"/>
          </a:xfrm>
          <a:prstGeom prst="rect">
            <a:avLst/>
          </a:prstGeom>
          <a:solidFill>
            <a:schemeClr val="lt2"/>
          </a:solidFill>
          <a:ln cap="flat" cmpd="sng" w="8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925" lIns="84925" spcFirstLastPara="1" rIns="84925" wrap="square" tIns="84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7"/>
              <a:t>C</a:t>
            </a:r>
            <a:r>
              <a:rPr lang="en" sz="1207"/>
              <a:t>RS precoding</a:t>
            </a:r>
            <a:endParaRPr sz="1207"/>
          </a:p>
        </p:txBody>
      </p:sp>
      <p:sp>
        <p:nvSpPr>
          <p:cNvPr id="116" name="Google Shape;116;p14"/>
          <p:cNvSpPr/>
          <p:nvPr/>
        </p:nvSpPr>
        <p:spPr>
          <a:xfrm>
            <a:off x="5512814" y="888425"/>
            <a:ext cx="922200" cy="1089300"/>
          </a:xfrm>
          <a:prstGeom prst="rect">
            <a:avLst/>
          </a:prstGeom>
          <a:solidFill>
            <a:srgbClr val="EEEEEE"/>
          </a:solidFill>
          <a:ln cap="flat" cmpd="sng" w="8850">
            <a:solidFill>
              <a:srgbClr val="1E2D31"/>
            </a:solidFill>
            <a:prstDash val="solid"/>
            <a:round/>
            <a:headEnd len="sm" w="sm" type="none"/>
            <a:tailEnd len="sm" w="sm" type="none"/>
          </a:ln>
          <a:effectLst>
            <a:outerShdw blurRad="53083" rotWithShape="0" algn="bl" dir="5400000" dist="17694">
              <a:srgbClr val="000000">
                <a:alpha val="50000"/>
              </a:srgbClr>
            </a:outerShdw>
          </a:effectLst>
        </p:spPr>
        <p:txBody>
          <a:bodyPr anchorCtr="0" anchor="ctr" bIns="84925" lIns="84925" spcFirstLastPara="1" rIns="84925" wrap="square" tIns="84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7">
                <a:solidFill>
                  <a:srgbClr val="1E2D31"/>
                </a:solidFill>
                <a:latin typeface="Lato"/>
                <a:ea typeface="Lato"/>
                <a:cs typeface="Lato"/>
                <a:sym typeface="Lato"/>
              </a:rPr>
              <a:t>CRS</a:t>
            </a:r>
            <a:endParaRPr sz="1207">
              <a:solidFill>
                <a:srgbClr val="1E2D3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7">
                <a:solidFill>
                  <a:srgbClr val="1E2D31"/>
                </a:solidFill>
                <a:latin typeface="Lato"/>
                <a:ea typeface="Lato"/>
                <a:cs typeface="Lato"/>
                <a:sym typeface="Lato"/>
              </a:rPr>
              <a:t>Based</a:t>
            </a:r>
            <a:endParaRPr sz="1207">
              <a:solidFill>
                <a:srgbClr val="1E2D3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7">
                <a:solidFill>
                  <a:srgbClr val="1E2D31"/>
                </a:solidFill>
                <a:latin typeface="Lato"/>
                <a:ea typeface="Lato"/>
                <a:cs typeface="Lato"/>
                <a:sym typeface="Lato"/>
              </a:rPr>
              <a:t>Channel Estimation</a:t>
            </a:r>
            <a:endParaRPr sz="1207">
              <a:solidFill>
                <a:srgbClr val="83D06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2875333" y="1033602"/>
            <a:ext cx="793500" cy="798900"/>
          </a:xfrm>
          <a:prstGeom prst="rect">
            <a:avLst/>
          </a:prstGeom>
          <a:solidFill>
            <a:srgbClr val="FF9900"/>
          </a:solidFill>
          <a:ln cap="flat" cmpd="sng" w="176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3083" rotWithShape="0" algn="bl" dir="5400000" dist="17694">
              <a:srgbClr val="000000">
                <a:alpha val="50000"/>
              </a:srgbClr>
            </a:outerShdw>
          </a:effectLst>
        </p:spPr>
        <p:txBody>
          <a:bodyPr anchorCtr="0" anchor="ctr" bIns="84925" lIns="84925" spcFirstLastPara="1" rIns="84925" wrap="square" tIns="84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7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Subband</a:t>
            </a:r>
            <a:endParaRPr b="1" sz="1207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7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CQI</a:t>
            </a:r>
            <a:endParaRPr b="1" sz="1207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8" name="Google Shape;118;p14"/>
          <p:cNvCxnSpPr>
            <a:stCxn id="117" idx="2"/>
            <a:endCxn id="111" idx="0"/>
          </p:cNvCxnSpPr>
          <p:nvPr/>
        </p:nvCxnSpPr>
        <p:spPr>
          <a:xfrm>
            <a:off x="3272083" y="1832502"/>
            <a:ext cx="0" cy="520800"/>
          </a:xfrm>
          <a:prstGeom prst="straightConnector1">
            <a:avLst/>
          </a:prstGeom>
          <a:noFill/>
          <a:ln cap="flat" cmpd="sng" w="8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" name="Google Shape;119;p14"/>
          <p:cNvSpPr/>
          <p:nvPr/>
        </p:nvSpPr>
        <p:spPr>
          <a:xfrm>
            <a:off x="1030684" y="1595689"/>
            <a:ext cx="537900" cy="519900"/>
          </a:xfrm>
          <a:prstGeom prst="rect">
            <a:avLst/>
          </a:prstGeom>
          <a:solidFill>
            <a:schemeClr val="lt2"/>
          </a:solidFill>
          <a:ln cap="flat" cmpd="sng" w="8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925" lIns="84925" spcFirstLastPara="1" rIns="84925" wrap="square" tIns="84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7"/>
              <a:t>MCS  </a:t>
            </a:r>
            <a:endParaRPr sz="1207"/>
          </a:p>
        </p:txBody>
      </p:sp>
      <p:cxnSp>
        <p:nvCxnSpPr>
          <p:cNvPr id="120" name="Google Shape;120;p14"/>
          <p:cNvCxnSpPr>
            <a:stCxn id="119" idx="2"/>
            <a:endCxn id="96" idx="0"/>
          </p:cNvCxnSpPr>
          <p:nvPr/>
        </p:nvCxnSpPr>
        <p:spPr>
          <a:xfrm>
            <a:off x="1299634" y="2115589"/>
            <a:ext cx="0" cy="243600"/>
          </a:xfrm>
          <a:prstGeom prst="straightConnector1">
            <a:avLst/>
          </a:prstGeom>
          <a:noFill/>
          <a:ln cap="flat" cmpd="sng" w="8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" name="Google Shape;121;p14"/>
          <p:cNvCxnSpPr>
            <a:stCxn id="116" idx="1"/>
            <a:endCxn id="117" idx="3"/>
          </p:cNvCxnSpPr>
          <p:nvPr/>
        </p:nvCxnSpPr>
        <p:spPr>
          <a:xfrm rot="10800000">
            <a:off x="3668714" y="1433075"/>
            <a:ext cx="1844100" cy="0"/>
          </a:xfrm>
          <a:prstGeom prst="straightConnector1">
            <a:avLst/>
          </a:prstGeom>
          <a:noFill/>
          <a:ln cap="flat" cmpd="sng" w="8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14"/>
          <p:cNvCxnSpPr>
            <a:stCxn id="100" idx="0"/>
            <a:endCxn id="116" idx="2"/>
          </p:cNvCxnSpPr>
          <p:nvPr/>
        </p:nvCxnSpPr>
        <p:spPr>
          <a:xfrm rot="10800000">
            <a:off x="5973877" y="1977586"/>
            <a:ext cx="0" cy="231300"/>
          </a:xfrm>
          <a:prstGeom prst="straightConnector1">
            <a:avLst/>
          </a:prstGeom>
          <a:noFill/>
          <a:ln cap="flat" cmpd="sng" w="8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" name="Google Shape;123;p14"/>
          <p:cNvCxnSpPr>
            <a:stCxn id="114" idx="0"/>
            <a:endCxn id="115" idx="0"/>
          </p:cNvCxnSpPr>
          <p:nvPr/>
        </p:nvCxnSpPr>
        <p:spPr>
          <a:xfrm flipH="1" rot="-5400000">
            <a:off x="2246308" y="3156797"/>
            <a:ext cx="600" cy="1029600"/>
          </a:xfrm>
          <a:prstGeom prst="bentConnector3">
            <a:avLst>
              <a:gd fmla="val -39687500" name="adj1"/>
            </a:avLst>
          </a:prstGeom>
          <a:noFill/>
          <a:ln cap="flat" cmpd="sng" w="88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14"/>
          <p:cNvCxnSpPr>
            <a:endCxn id="98" idx="2"/>
          </p:cNvCxnSpPr>
          <p:nvPr/>
        </p:nvCxnSpPr>
        <p:spPr>
          <a:xfrm flipH="1" rot="10800000">
            <a:off x="2254827" y="3155576"/>
            <a:ext cx="5400" cy="294300"/>
          </a:xfrm>
          <a:prstGeom prst="straightConnector1">
            <a:avLst/>
          </a:prstGeom>
          <a:noFill/>
          <a:ln cap="flat" cmpd="sng" w="8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